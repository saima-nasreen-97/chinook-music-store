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75" r:id="rId6"/>
    <p:sldId id="276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69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E20820B-86CA-4492-AFCA-0F2E0C89236B}">
          <p14:sldIdLst>
            <p14:sldId id="256"/>
            <p14:sldId id="257"/>
            <p14:sldId id="258"/>
            <p14:sldId id="274"/>
            <p14:sldId id="275"/>
            <p14:sldId id="276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70"/>
            <p14:sldId id="271"/>
            <p14:sldId id="269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ima\OneDrive\Documents\Newton%20School\SQL%20Project\CH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ima\OneDrive\Documents\Newton%20School\SQL%20Project\CHAR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ima\OneDrive\Documents\Newton%20School\SQL%20Project\CHAR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ima\OneDrive\Documents\Newton%20School\SQL%20Project\CHAR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ima\OneDrive\Documents\Newton%20School\SQL%20Project\CHAR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ima\OneDrive\Documents\Newton%20School\SQL%20Project\CHAR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ima\OneDrive\Documents\Newton%20School\SQL%20Project\CHART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ima\OneDrive\Documents\Newton%20School\SQL%20Project\CHART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[CHARTS.xlsx]Charts-Q-2!PivotTable24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Top Genres by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'Charts-Q-2'!$B$3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'Charts-Q-2'!$A$4:$A$7</c:f>
              <c:strCache>
                <c:ptCount val="4"/>
                <c:pt idx="0">
                  <c:v>Metal</c:v>
                </c:pt>
                <c:pt idx="1">
                  <c:v>R&amp;B/Soul</c:v>
                </c:pt>
                <c:pt idx="2">
                  <c:v>Alternative</c:v>
                </c:pt>
                <c:pt idx="3">
                  <c:v>Rock</c:v>
                </c:pt>
              </c:strCache>
            </c:strRef>
          </c:cat>
          <c:val>
            <c:numRef>
              <c:f>'Charts-Q-2'!$B$4:$B$7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DE-4B5E-8DB6-43F42362FD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shape val="box"/>
        <c:axId val="1382729152"/>
        <c:axId val="1382729984"/>
        <c:axId val="0"/>
      </c:bar3DChart>
      <c:catAx>
        <c:axId val="1382729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2729984"/>
        <c:crosses val="autoZero"/>
        <c:auto val="1"/>
        <c:lblAlgn val="ctr"/>
        <c:lblOffset val="100"/>
        <c:noMultiLvlLbl val="0"/>
      </c:catAx>
      <c:valAx>
        <c:axId val="1382729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2729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Customers by Country</a:t>
            </a:r>
          </a:p>
        </c:rich>
      </c:tx>
      <c:layout>
        <c:manualLayout>
          <c:xMode val="edge"/>
          <c:yMode val="edge"/>
          <c:x val="0.33895818048422593"/>
          <c:y val="1.99123855037833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60192618954915"/>
          <c:y val="0.15780439121756487"/>
          <c:w val="0.76521081575060579"/>
          <c:h val="0.749587753626605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'Ob-Q-3'!$B$1</c:f>
              <c:strCache>
                <c:ptCount val="1"/>
                <c:pt idx="0">
                  <c:v>total_customers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'Ob-Q-3'!$A$2:$A$25</c:f>
              <c:strCache>
                <c:ptCount val="24"/>
                <c:pt idx="0">
                  <c:v>USA</c:v>
                </c:pt>
                <c:pt idx="1">
                  <c:v>Canada</c:v>
                </c:pt>
                <c:pt idx="2">
                  <c:v>Brazil</c:v>
                </c:pt>
                <c:pt idx="3">
                  <c:v>France</c:v>
                </c:pt>
                <c:pt idx="4">
                  <c:v>Germany</c:v>
                </c:pt>
                <c:pt idx="5">
                  <c:v>United Kingdom</c:v>
                </c:pt>
                <c:pt idx="6">
                  <c:v>Czech Republic</c:v>
                </c:pt>
                <c:pt idx="7">
                  <c:v>Portugal</c:v>
                </c:pt>
                <c:pt idx="8">
                  <c:v>India</c:v>
                </c:pt>
                <c:pt idx="9">
                  <c:v>Norway</c:v>
                </c:pt>
                <c:pt idx="10">
                  <c:v>Austria</c:v>
                </c:pt>
                <c:pt idx="11">
                  <c:v>Belgium</c:v>
                </c:pt>
                <c:pt idx="12">
                  <c:v>Denmark</c:v>
                </c:pt>
                <c:pt idx="13">
                  <c:v>Finland</c:v>
                </c:pt>
                <c:pt idx="14">
                  <c:v>Hungary</c:v>
                </c:pt>
                <c:pt idx="15">
                  <c:v>Ireland</c:v>
                </c:pt>
                <c:pt idx="16">
                  <c:v>Italy</c:v>
                </c:pt>
                <c:pt idx="17">
                  <c:v>Netherlands</c:v>
                </c:pt>
                <c:pt idx="18">
                  <c:v>Poland</c:v>
                </c:pt>
                <c:pt idx="19">
                  <c:v>Spain</c:v>
                </c:pt>
                <c:pt idx="20">
                  <c:v>Sweden</c:v>
                </c:pt>
                <c:pt idx="21">
                  <c:v>Australia</c:v>
                </c:pt>
                <c:pt idx="22">
                  <c:v>Argentina</c:v>
                </c:pt>
                <c:pt idx="23">
                  <c:v>Chile</c:v>
                </c:pt>
              </c:strCache>
            </c:strRef>
          </c:cat>
          <c:val>
            <c:numRef>
              <c:f>'Ob-Q-3'!$B$2:$B$25</c:f>
              <c:numCache>
                <c:formatCode>General</c:formatCode>
                <c:ptCount val="24"/>
                <c:pt idx="0">
                  <c:v>13</c:v>
                </c:pt>
                <c:pt idx="1">
                  <c:v>8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E0-4ECD-BACE-F37F210A44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04191487"/>
        <c:axId val="104192735"/>
      </c:barChart>
      <c:catAx>
        <c:axId val="1041914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192735"/>
        <c:crosses val="autoZero"/>
        <c:auto val="1"/>
        <c:lblAlgn val="ctr"/>
        <c:lblOffset val="100"/>
        <c:noMultiLvlLbl val="0"/>
      </c:catAx>
      <c:valAx>
        <c:axId val="1041927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191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[CHARTS.xlsx]Chart-4!PivotTable45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i="1">
                <a:solidFill>
                  <a:schemeClr val="tx1">
                    <a:lumMod val="65000"/>
                    <a:lumOff val="35000"/>
                  </a:schemeClr>
                </a:solidFill>
              </a:rPr>
              <a:t>Total Revenue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'Chart-4'!$B$3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'Chart-4'!$A$4:$A$27</c:f>
              <c:strCache>
                <c:ptCount val="24"/>
                <c:pt idx="0">
                  <c:v>Argentina</c:v>
                </c:pt>
                <c:pt idx="1">
                  <c:v>Australia</c:v>
                </c:pt>
                <c:pt idx="2">
                  <c:v>Austria</c:v>
                </c:pt>
                <c:pt idx="3">
                  <c:v>Belgium</c:v>
                </c:pt>
                <c:pt idx="4">
                  <c:v>Brazil</c:v>
                </c:pt>
                <c:pt idx="5">
                  <c:v>Canada</c:v>
                </c:pt>
                <c:pt idx="6">
                  <c:v>Chile</c:v>
                </c:pt>
                <c:pt idx="7">
                  <c:v>Czech Republic</c:v>
                </c:pt>
                <c:pt idx="8">
                  <c:v>Denmark</c:v>
                </c:pt>
                <c:pt idx="9">
                  <c:v>Finland</c:v>
                </c:pt>
                <c:pt idx="10">
                  <c:v>France</c:v>
                </c:pt>
                <c:pt idx="11">
                  <c:v>Germany</c:v>
                </c:pt>
                <c:pt idx="12">
                  <c:v>Hungary</c:v>
                </c:pt>
                <c:pt idx="13">
                  <c:v>India</c:v>
                </c:pt>
                <c:pt idx="14">
                  <c:v>Ireland</c:v>
                </c:pt>
                <c:pt idx="15">
                  <c:v>Italy</c:v>
                </c:pt>
                <c:pt idx="16">
                  <c:v>Netherlands</c:v>
                </c:pt>
                <c:pt idx="17">
                  <c:v>Norway</c:v>
                </c:pt>
                <c:pt idx="18">
                  <c:v>Poland</c:v>
                </c:pt>
                <c:pt idx="19">
                  <c:v>Portugal</c:v>
                </c:pt>
                <c:pt idx="20">
                  <c:v>Spain</c:v>
                </c:pt>
                <c:pt idx="21">
                  <c:v>Sweden</c:v>
                </c:pt>
                <c:pt idx="22">
                  <c:v>United Kingdom</c:v>
                </c:pt>
                <c:pt idx="23">
                  <c:v>USA</c:v>
                </c:pt>
              </c:strCache>
            </c:strRef>
          </c:cat>
          <c:val>
            <c:numRef>
              <c:f>'Chart-4'!$B$4:$B$27</c:f>
              <c:numCache>
                <c:formatCode>General</c:formatCode>
                <c:ptCount val="24"/>
                <c:pt idx="0">
                  <c:v>39.6</c:v>
                </c:pt>
                <c:pt idx="1">
                  <c:v>81.180000000000007</c:v>
                </c:pt>
                <c:pt idx="2">
                  <c:v>69.3</c:v>
                </c:pt>
                <c:pt idx="3">
                  <c:v>60.39</c:v>
                </c:pt>
                <c:pt idx="4">
                  <c:v>427.68</c:v>
                </c:pt>
                <c:pt idx="5">
                  <c:v>535.59</c:v>
                </c:pt>
                <c:pt idx="6">
                  <c:v>97.02</c:v>
                </c:pt>
                <c:pt idx="7">
                  <c:v>273.24</c:v>
                </c:pt>
                <c:pt idx="8">
                  <c:v>37.619999999999997</c:v>
                </c:pt>
                <c:pt idx="9">
                  <c:v>79.2</c:v>
                </c:pt>
                <c:pt idx="10">
                  <c:v>389.06999999999994</c:v>
                </c:pt>
                <c:pt idx="11">
                  <c:v>334.62</c:v>
                </c:pt>
                <c:pt idx="12">
                  <c:v>78.209999999999994</c:v>
                </c:pt>
                <c:pt idx="13">
                  <c:v>183.15</c:v>
                </c:pt>
                <c:pt idx="14">
                  <c:v>114.84</c:v>
                </c:pt>
                <c:pt idx="15">
                  <c:v>50.49</c:v>
                </c:pt>
                <c:pt idx="16">
                  <c:v>65.34</c:v>
                </c:pt>
                <c:pt idx="17">
                  <c:v>72.27</c:v>
                </c:pt>
                <c:pt idx="18">
                  <c:v>76.23</c:v>
                </c:pt>
                <c:pt idx="19">
                  <c:v>185.13</c:v>
                </c:pt>
                <c:pt idx="20">
                  <c:v>98.01</c:v>
                </c:pt>
                <c:pt idx="21">
                  <c:v>75.239999999999995</c:v>
                </c:pt>
                <c:pt idx="22">
                  <c:v>245.51999999999998</c:v>
                </c:pt>
                <c:pt idx="23">
                  <c:v>1040.49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4B-42FD-917E-3669B3841E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886543"/>
        <c:axId val="4892367"/>
      </c:barChart>
      <c:catAx>
        <c:axId val="4886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2367"/>
        <c:crosses val="autoZero"/>
        <c:auto val="1"/>
        <c:lblAlgn val="ctr"/>
        <c:lblOffset val="100"/>
        <c:noMultiLvlLbl val="0"/>
      </c:catAx>
      <c:valAx>
        <c:axId val="48923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86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b="1" i="1"/>
              <a:t> Genre sales % in USA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3055555555555558E-2"/>
          <c:y val="0.19606445027704869"/>
          <c:w val="0.89722222222222214"/>
          <c:h val="0.26221967045785943"/>
        </c:manualLayout>
      </c:layout>
      <c:pie3DChart>
        <c:varyColors val="1"/>
        <c:ser>
          <c:idx val="0"/>
          <c:order val="0"/>
          <c:tx>
            <c:strRef>
              <c:f>'Ob-Q-9 pt1'!$B$1</c:f>
              <c:strCache>
                <c:ptCount val="1"/>
                <c:pt idx="0">
                  <c:v>total_sales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7E2-4926-B8C4-467A4D05E1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7E2-4926-B8C4-467A4D05E1A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7E2-4926-B8C4-467A4D05E1A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7E2-4926-B8C4-467A4D05E1A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C7E2-4926-B8C4-467A4D05E1A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C7E2-4926-B8C4-467A4D05E1A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C7E2-4926-B8C4-467A4D05E1A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C7E2-4926-B8C4-467A4D05E1A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C7E2-4926-B8C4-467A4D05E1A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C7E2-4926-B8C4-467A4D05E1A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5-C7E2-4926-B8C4-467A4D05E1A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7-C7E2-4926-B8C4-467A4D05E1A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9-C7E2-4926-B8C4-467A4D05E1AD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B-C7E2-4926-B8C4-467A4D05E1AD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D-C7E2-4926-B8C4-467A4D05E1AD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F-C7E2-4926-B8C4-467A4D05E1AD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1-C7E2-4926-B8C4-467A4D05E1A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'Ob-Q-9 pt1'!$A$2:$A$18</c:f>
              <c:strCache>
                <c:ptCount val="17"/>
                <c:pt idx="0">
                  <c:v>Rock</c:v>
                </c:pt>
                <c:pt idx="1">
                  <c:v>Alternative &amp; Punk</c:v>
                </c:pt>
                <c:pt idx="2">
                  <c:v>Metal</c:v>
                </c:pt>
                <c:pt idx="3">
                  <c:v>R&amp;B/Soul</c:v>
                </c:pt>
                <c:pt idx="4">
                  <c:v>Blues</c:v>
                </c:pt>
                <c:pt idx="5">
                  <c:v>Alternative</c:v>
                </c:pt>
                <c:pt idx="6">
                  <c:v>Latin</c:v>
                </c:pt>
                <c:pt idx="7">
                  <c:v>Pop</c:v>
                </c:pt>
                <c:pt idx="8">
                  <c:v>Hip Hop/Rap</c:v>
                </c:pt>
                <c:pt idx="9">
                  <c:v>Jazz</c:v>
                </c:pt>
                <c:pt idx="10">
                  <c:v>Easy Listening</c:v>
                </c:pt>
                <c:pt idx="11">
                  <c:v>Reggae</c:v>
                </c:pt>
                <c:pt idx="12">
                  <c:v>Electronica/Dance</c:v>
                </c:pt>
                <c:pt idx="13">
                  <c:v>Classical</c:v>
                </c:pt>
                <c:pt idx="14">
                  <c:v>Heavy Metal</c:v>
                </c:pt>
                <c:pt idx="15">
                  <c:v>Soundtrack</c:v>
                </c:pt>
                <c:pt idx="16">
                  <c:v>TV Shows</c:v>
                </c:pt>
              </c:strCache>
            </c:strRef>
          </c:cat>
          <c:val>
            <c:numRef>
              <c:f>'Ob-Q-9 pt1'!$B$2:$B$18</c:f>
              <c:numCache>
                <c:formatCode>General</c:formatCode>
                <c:ptCount val="17"/>
                <c:pt idx="0">
                  <c:v>555.39</c:v>
                </c:pt>
                <c:pt idx="1">
                  <c:v>128.69999999999999</c:v>
                </c:pt>
                <c:pt idx="2">
                  <c:v>122.76</c:v>
                </c:pt>
                <c:pt idx="3">
                  <c:v>52.47</c:v>
                </c:pt>
                <c:pt idx="4">
                  <c:v>35.64</c:v>
                </c:pt>
                <c:pt idx="5">
                  <c:v>34.65</c:v>
                </c:pt>
                <c:pt idx="6">
                  <c:v>21.78</c:v>
                </c:pt>
                <c:pt idx="7">
                  <c:v>21.78</c:v>
                </c:pt>
                <c:pt idx="8">
                  <c:v>19.8</c:v>
                </c:pt>
                <c:pt idx="9">
                  <c:v>13.86</c:v>
                </c:pt>
                <c:pt idx="10">
                  <c:v>12.87</c:v>
                </c:pt>
                <c:pt idx="11">
                  <c:v>5.94</c:v>
                </c:pt>
                <c:pt idx="12">
                  <c:v>4.95</c:v>
                </c:pt>
                <c:pt idx="13">
                  <c:v>3.96</c:v>
                </c:pt>
                <c:pt idx="14">
                  <c:v>2.97</c:v>
                </c:pt>
                <c:pt idx="15">
                  <c:v>1.98</c:v>
                </c:pt>
                <c:pt idx="16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C7E2-4926-B8C4-467A4D05E1AD}"/>
            </c:ext>
          </c:extLst>
        </c:ser>
        <c:ser>
          <c:idx val="1"/>
          <c:order val="1"/>
          <c:tx>
            <c:strRef>
              <c:f>'Ob-Q-9 pt1'!$C$1</c:f>
              <c:strCache>
                <c:ptCount val="1"/>
                <c:pt idx="0">
                  <c:v>sales_percentage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4-C7E2-4926-B8C4-467A4D05E1A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6-C7E2-4926-B8C4-467A4D05E1A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8-C7E2-4926-B8C4-467A4D05E1A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A-C7E2-4926-B8C4-467A4D05E1A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C-C7E2-4926-B8C4-467A4D05E1A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E-C7E2-4926-B8C4-467A4D05E1A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0-C7E2-4926-B8C4-467A4D05E1A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2-C7E2-4926-B8C4-467A4D05E1A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4-C7E2-4926-B8C4-467A4D05E1A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6-C7E2-4926-B8C4-467A4D05E1A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8-C7E2-4926-B8C4-467A4D05E1A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A-C7E2-4926-B8C4-467A4D05E1A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C-C7E2-4926-B8C4-467A4D05E1AD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E-C7E2-4926-B8C4-467A4D05E1AD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0-C7E2-4926-B8C4-467A4D05E1AD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2-C7E2-4926-B8C4-467A4D05E1AD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4-C7E2-4926-B8C4-467A4D05E1A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'Ob-Q-9 pt1'!$A$2:$A$18</c:f>
              <c:strCache>
                <c:ptCount val="17"/>
                <c:pt idx="0">
                  <c:v>Rock</c:v>
                </c:pt>
                <c:pt idx="1">
                  <c:v>Alternative &amp; Punk</c:v>
                </c:pt>
                <c:pt idx="2">
                  <c:v>Metal</c:v>
                </c:pt>
                <c:pt idx="3">
                  <c:v>R&amp;B/Soul</c:v>
                </c:pt>
                <c:pt idx="4">
                  <c:v>Blues</c:v>
                </c:pt>
                <c:pt idx="5">
                  <c:v>Alternative</c:v>
                </c:pt>
                <c:pt idx="6">
                  <c:v>Latin</c:v>
                </c:pt>
                <c:pt idx="7">
                  <c:v>Pop</c:v>
                </c:pt>
                <c:pt idx="8">
                  <c:v>Hip Hop/Rap</c:v>
                </c:pt>
                <c:pt idx="9">
                  <c:v>Jazz</c:v>
                </c:pt>
                <c:pt idx="10">
                  <c:v>Easy Listening</c:v>
                </c:pt>
                <c:pt idx="11">
                  <c:v>Reggae</c:v>
                </c:pt>
                <c:pt idx="12">
                  <c:v>Electronica/Dance</c:v>
                </c:pt>
                <c:pt idx="13">
                  <c:v>Classical</c:v>
                </c:pt>
                <c:pt idx="14">
                  <c:v>Heavy Metal</c:v>
                </c:pt>
                <c:pt idx="15">
                  <c:v>Soundtrack</c:v>
                </c:pt>
                <c:pt idx="16">
                  <c:v>TV Shows</c:v>
                </c:pt>
              </c:strCache>
            </c:strRef>
          </c:cat>
          <c:val>
            <c:numRef>
              <c:f>'Ob-Q-9 pt1'!$C$2:$C$18</c:f>
              <c:numCache>
                <c:formatCode>General</c:formatCode>
                <c:ptCount val="17"/>
                <c:pt idx="0">
                  <c:v>53.38</c:v>
                </c:pt>
                <c:pt idx="1">
                  <c:v>12.37</c:v>
                </c:pt>
                <c:pt idx="2">
                  <c:v>11.8</c:v>
                </c:pt>
                <c:pt idx="3">
                  <c:v>5.04</c:v>
                </c:pt>
                <c:pt idx="4">
                  <c:v>3.43</c:v>
                </c:pt>
                <c:pt idx="5">
                  <c:v>3.33</c:v>
                </c:pt>
                <c:pt idx="6">
                  <c:v>2.09</c:v>
                </c:pt>
                <c:pt idx="7">
                  <c:v>2.09</c:v>
                </c:pt>
                <c:pt idx="8">
                  <c:v>1.9</c:v>
                </c:pt>
                <c:pt idx="9">
                  <c:v>1.33</c:v>
                </c:pt>
                <c:pt idx="10">
                  <c:v>1.24</c:v>
                </c:pt>
                <c:pt idx="11">
                  <c:v>0.56999999999999995</c:v>
                </c:pt>
                <c:pt idx="12">
                  <c:v>0.48</c:v>
                </c:pt>
                <c:pt idx="13">
                  <c:v>0.38</c:v>
                </c:pt>
                <c:pt idx="14">
                  <c:v>0.28999999999999998</c:v>
                </c:pt>
                <c:pt idx="15">
                  <c:v>0.19</c:v>
                </c:pt>
                <c:pt idx="16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5-C7E2-4926-B8C4-467A4D05E1A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981933508311462"/>
          <c:y val="0.51041338582677165"/>
          <c:w val="0.81091688538932627"/>
          <c:h val="0.461808836395450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1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i="1"/>
              <a:t>Total</a:t>
            </a:r>
            <a:r>
              <a:rPr lang="en-IN" i="1" baseline="0"/>
              <a:t> Sales by artist</a:t>
            </a:r>
            <a:endParaRPr lang="en-IN" i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1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A5B-4B59-9BEA-7E2DD50E6D2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A5B-4B59-9BEA-7E2DD50E6D2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5A5B-4B59-9BEA-7E2DD50E6D2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5A5B-4B59-9BEA-7E2DD50E6D2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5A5B-4B59-9BEA-7E2DD50E6D2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'Ob-Q-9 pt2'!$A$2:$A$6</c:f>
              <c:strCache>
                <c:ptCount val="5"/>
                <c:pt idx="0">
                  <c:v>Van Halen</c:v>
                </c:pt>
                <c:pt idx="1">
                  <c:v>R.E.M.</c:v>
                </c:pt>
                <c:pt idx="2">
                  <c:v>The Rolling Stones</c:v>
                </c:pt>
                <c:pt idx="3">
                  <c:v>Nirvana</c:v>
                </c:pt>
                <c:pt idx="4">
                  <c:v>Foo Fighters</c:v>
                </c:pt>
              </c:strCache>
            </c:strRef>
          </c:cat>
          <c:val>
            <c:numRef>
              <c:f>'Ob-Q-9 pt2'!$B$2:$B$6</c:f>
              <c:numCache>
                <c:formatCode>General</c:formatCode>
                <c:ptCount val="5"/>
                <c:pt idx="0">
                  <c:v>42.57</c:v>
                </c:pt>
                <c:pt idx="1">
                  <c:v>37.619999999999997</c:v>
                </c:pt>
                <c:pt idx="2">
                  <c:v>36.630000000000003</c:v>
                </c:pt>
                <c:pt idx="3">
                  <c:v>34.65</c:v>
                </c:pt>
                <c:pt idx="4">
                  <c:v>33.659999999999997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A5B-4B59-9BEA-7E2DD50E6D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i="1" dirty="0"/>
              <a:t>Genre Sales Performance in the USA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'Ob-Q-11'!$B$1</c:f>
              <c:strCache>
                <c:ptCount val="1"/>
                <c:pt idx="0">
                  <c:v>total_sales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'Ob-Q-11'!$A$2:$A$18</c:f>
              <c:strCache>
                <c:ptCount val="17"/>
                <c:pt idx="0">
                  <c:v>Rock</c:v>
                </c:pt>
                <c:pt idx="1">
                  <c:v>Alternative &amp; Punk</c:v>
                </c:pt>
                <c:pt idx="2">
                  <c:v>Metal</c:v>
                </c:pt>
                <c:pt idx="3">
                  <c:v>R&amp;B/Soul</c:v>
                </c:pt>
                <c:pt idx="4">
                  <c:v>Blues</c:v>
                </c:pt>
                <c:pt idx="5">
                  <c:v>Alternative</c:v>
                </c:pt>
                <c:pt idx="6">
                  <c:v>Latin</c:v>
                </c:pt>
                <c:pt idx="7">
                  <c:v>Pop</c:v>
                </c:pt>
                <c:pt idx="8">
                  <c:v>Hip Hop/Rap</c:v>
                </c:pt>
                <c:pt idx="9">
                  <c:v>Jazz</c:v>
                </c:pt>
                <c:pt idx="10">
                  <c:v>Easy Listening</c:v>
                </c:pt>
                <c:pt idx="11">
                  <c:v>Reggae</c:v>
                </c:pt>
                <c:pt idx="12">
                  <c:v>Electronica/Dance</c:v>
                </c:pt>
                <c:pt idx="13">
                  <c:v>Classical</c:v>
                </c:pt>
                <c:pt idx="14">
                  <c:v>Heavy Metal</c:v>
                </c:pt>
                <c:pt idx="15">
                  <c:v>Soundtrack</c:v>
                </c:pt>
                <c:pt idx="16">
                  <c:v>TV Shows</c:v>
                </c:pt>
              </c:strCache>
            </c:strRef>
          </c:cat>
          <c:val>
            <c:numRef>
              <c:f>'Ob-Q-11'!$B$2:$B$18</c:f>
              <c:numCache>
                <c:formatCode>General</c:formatCode>
                <c:ptCount val="17"/>
                <c:pt idx="0">
                  <c:v>555.39</c:v>
                </c:pt>
                <c:pt idx="1">
                  <c:v>128.69999999999999</c:v>
                </c:pt>
                <c:pt idx="2">
                  <c:v>122.76</c:v>
                </c:pt>
                <c:pt idx="3">
                  <c:v>52.47</c:v>
                </c:pt>
                <c:pt idx="4">
                  <c:v>35.64</c:v>
                </c:pt>
                <c:pt idx="5">
                  <c:v>34.65</c:v>
                </c:pt>
                <c:pt idx="6">
                  <c:v>21.78</c:v>
                </c:pt>
                <c:pt idx="7">
                  <c:v>21.78</c:v>
                </c:pt>
                <c:pt idx="8">
                  <c:v>19.8</c:v>
                </c:pt>
                <c:pt idx="9">
                  <c:v>13.86</c:v>
                </c:pt>
                <c:pt idx="10">
                  <c:v>12.87</c:v>
                </c:pt>
                <c:pt idx="11">
                  <c:v>5.94</c:v>
                </c:pt>
                <c:pt idx="12">
                  <c:v>4.95</c:v>
                </c:pt>
                <c:pt idx="13">
                  <c:v>3.96</c:v>
                </c:pt>
                <c:pt idx="14">
                  <c:v>2.97</c:v>
                </c:pt>
                <c:pt idx="15">
                  <c:v>1.98</c:v>
                </c:pt>
                <c:pt idx="16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8E-445F-BDE8-269F3240CB63}"/>
            </c:ext>
          </c:extLst>
        </c:ser>
        <c:ser>
          <c:idx val="1"/>
          <c:order val="1"/>
          <c:tx>
            <c:strRef>
              <c:f>'Ob-Q-11'!$C$1</c:f>
              <c:strCache>
                <c:ptCount val="1"/>
                <c:pt idx="0">
                  <c:v>sales_rank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'Ob-Q-11'!$A$2:$A$18</c:f>
              <c:strCache>
                <c:ptCount val="17"/>
                <c:pt idx="0">
                  <c:v>Rock</c:v>
                </c:pt>
                <c:pt idx="1">
                  <c:v>Alternative &amp; Punk</c:v>
                </c:pt>
                <c:pt idx="2">
                  <c:v>Metal</c:v>
                </c:pt>
                <c:pt idx="3">
                  <c:v>R&amp;B/Soul</c:v>
                </c:pt>
                <c:pt idx="4">
                  <c:v>Blues</c:v>
                </c:pt>
                <c:pt idx="5">
                  <c:v>Alternative</c:v>
                </c:pt>
                <c:pt idx="6">
                  <c:v>Latin</c:v>
                </c:pt>
                <c:pt idx="7">
                  <c:v>Pop</c:v>
                </c:pt>
                <c:pt idx="8">
                  <c:v>Hip Hop/Rap</c:v>
                </c:pt>
                <c:pt idx="9">
                  <c:v>Jazz</c:v>
                </c:pt>
                <c:pt idx="10">
                  <c:v>Easy Listening</c:v>
                </c:pt>
                <c:pt idx="11">
                  <c:v>Reggae</c:v>
                </c:pt>
                <c:pt idx="12">
                  <c:v>Electronica/Dance</c:v>
                </c:pt>
                <c:pt idx="13">
                  <c:v>Classical</c:v>
                </c:pt>
                <c:pt idx="14">
                  <c:v>Heavy Metal</c:v>
                </c:pt>
                <c:pt idx="15">
                  <c:v>Soundtrack</c:v>
                </c:pt>
                <c:pt idx="16">
                  <c:v>TV Shows</c:v>
                </c:pt>
              </c:strCache>
            </c:strRef>
          </c:cat>
          <c:val>
            <c:numRef>
              <c:f>'Ob-Q-11'!$C$2:$C$18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8E-445F-BDE8-269F3240CB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191343423"/>
        <c:axId val="191350495"/>
      </c:barChart>
      <c:catAx>
        <c:axId val="1913434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350495"/>
        <c:crosses val="autoZero"/>
        <c:auto val="1"/>
        <c:lblAlgn val="ctr"/>
        <c:lblOffset val="100"/>
        <c:noMultiLvlLbl val="0"/>
      </c:catAx>
      <c:valAx>
        <c:axId val="191350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343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1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i="1" dirty="0"/>
              <a:t>Top  3 Albums by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1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00183328493917"/>
          <c:y val="0.17171296296296298"/>
          <c:w val="0.87910590351911"/>
          <c:h val="0.670030985710119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'SUB-Q-1'!$C$1</c:f>
              <c:strCache>
                <c:ptCount val="1"/>
                <c:pt idx="0">
                  <c:v>total_sales</c:v>
                </c:pt>
              </c:strCache>
            </c:strRef>
          </c:tx>
          <c:spPr>
            <a:solidFill>
              <a:srgbClr val="874BBD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6512106359434259E-17"/>
                  <c:y val="9.259259259259237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973-4198-AACD-F6653EFF2F13}"/>
                </c:ext>
              </c:extLst>
            </c:dLbl>
            <c:dLbl>
              <c:idx val="1"/>
              <c:layout>
                <c:manualLayout>
                  <c:x val="2.7777113544104168E-3"/>
                  <c:y val="4.629629629629629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973-4198-AACD-F6653EFF2F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'SUB-Q-1'!$B$2:$B$4</c:f>
              <c:strCache>
                <c:ptCount val="3"/>
                <c:pt idx="0">
                  <c:v>Are You Experienced?</c:v>
                </c:pt>
                <c:pt idx="1">
                  <c:v>From The Muddy Banks Of The Wishkah [live]</c:v>
                </c:pt>
                <c:pt idx="2">
                  <c:v>The Doors</c:v>
                </c:pt>
              </c:strCache>
              <c:extLst/>
            </c:strRef>
          </c:cat>
          <c:val>
            <c:numRef>
              <c:f>'SUB-Q-1'!$C$2:$C$4</c:f>
              <c:numCache>
                <c:formatCode>General</c:formatCode>
                <c:ptCount val="3"/>
                <c:pt idx="0">
                  <c:v>27.72</c:v>
                </c:pt>
                <c:pt idx="1">
                  <c:v>27.72</c:v>
                </c:pt>
                <c:pt idx="2">
                  <c:v>26.73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73-4198-AACD-F6653EFF2F1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4396048"/>
        <c:axId val="74395632"/>
      </c:barChart>
      <c:catAx>
        <c:axId val="7439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395632"/>
        <c:crosses val="autoZero"/>
        <c:auto val="1"/>
        <c:lblAlgn val="ctr"/>
        <c:lblOffset val="100"/>
        <c:noMultiLvlLbl val="0"/>
      </c:catAx>
      <c:valAx>
        <c:axId val="743956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39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Regional Market Analysis: Churn Rate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'SUB-Q-5'!$B$1</c:f>
              <c:strCache>
                <c:ptCount val="1"/>
                <c:pt idx="0">
                  <c:v>Total_Customers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'SUB-Q-5'!$A$2:$A$25</c:f>
              <c:strCache>
                <c:ptCount val="24"/>
                <c:pt idx="0">
                  <c:v>Denmark</c:v>
                </c:pt>
                <c:pt idx="1">
                  <c:v>Norway</c:v>
                </c:pt>
                <c:pt idx="2">
                  <c:v>Spain</c:v>
                </c:pt>
                <c:pt idx="3">
                  <c:v>Chile</c:v>
                </c:pt>
                <c:pt idx="4">
                  <c:v>Netherlands</c:v>
                </c:pt>
                <c:pt idx="5">
                  <c:v>Belgium</c:v>
                </c:pt>
                <c:pt idx="6">
                  <c:v>Germany</c:v>
                </c:pt>
                <c:pt idx="7">
                  <c:v>France</c:v>
                </c:pt>
                <c:pt idx="8">
                  <c:v>Brazil</c:v>
                </c:pt>
                <c:pt idx="9">
                  <c:v>United Kingdom</c:v>
                </c:pt>
                <c:pt idx="10">
                  <c:v>USA</c:v>
                </c:pt>
                <c:pt idx="11">
                  <c:v>Canada</c:v>
                </c:pt>
                <c:pt idx="12">
                  <c:v>Poland</c:v>
                </c:pt>
                <c:pt idx="13">
                  <c:v>India</c:v>
                </c:pt>
                <c:pt idx="14">
                  <c:v>Portugal</c:v>
                </c:pt>
                <c:pt idx="15">
                  <c:v>Finland</c:v>
                </c:pt>
                <c:pt idx="16">
                  <c:v>Australia</c:v>
                </c:pt>
                <c:pt idx="17">
                  <c:v>Hungary</c:v>
                </c:pt>
                <c:pt idx="18">
                  <c:v>Ireland</c:v>
                </c:pt>
                <c:pt idx="19">
                  <c:v>Sweden</c:v>
                </c:pt>
                <c:pt idx="20">
                  <c:v>Italy</c:v>
                </c:pt>
                <c:pt idx="21">
                  <c:v>Czech Republic</c:v>
                </c:pt>
                <c:pt idx="22">
                  <c:v>Austria</c:v>
                </c:pt>
                <c:pt idx="23">
                  <c:v>Argentina</c:v>
                </c:pt>
              </c:strCache>
            </c:strRef>
          </c:cat>
          <c:val>
            <c:numRef>
              <c:f>'SUB-Q-5'!$B$2:$B$25</c:f>
              <c:numCache>
                <c:formatCode>General</c:formatCode>
                <c:ptCount val="2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4</c:v>
                </c:pt>
                <c:pt idx="7">
                  <c:v>5</c:v>
                </c:pt>
                <c:pt idx="8">
                  <c:v>5</c:v>
                </c:pt>
                <c:pt idx="9">
                  <c:v>3</c:v>
                </c:pt>
                <c:pt idx="10">
                  <c:v>13</c:v>
                </c:pt>
                <c:pt idx="11">
                  <c:v>8</c:v>
                </c:pt>
                <c:pt idx="12">
                  <c:v>1</c:v>
                </c:pt>
                <c:pt idx="13">
                  <c:v>2</c:v>
                </c:pt>
                <c:pt idx="14">
                  <c:v>2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2</c:v>
                </c:pt>
                <c:pt idx="22">
                  <c:v>1</c:v>
                </c:pt>
                <c:pt idx="2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B1-4D32-BD2C-68551431A6AF}"/>
            </c:ext>
          </c:extLst>
        </c:ser>
        <c:ser>
          <c:idx val="1"/>
          <c:order val="1"/>
          <c:tx>
            <c:strRef>
              <c:f>'SUB-Q-5'!$C$1</c:f>
              <c:strCache>
                <c:ptCount val="1"/>
                <c:pt idx="0">
                  <c:v>Active_Customers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'SUB-Q-5'!$A$2:$A$25</c:f>
              <c:strCache>
                <c:ptCount val="24"/>
                <c:pt idx="0">
                  <c:v>Denmark</c:v>
                </c:pt>
                <c:pt idx="1">
                  <c:v>Norway</c:v>
                </c:pt>
                <c:pt idx="2">
                  <c:v>Spain</c:v>
                </c:pt>
                <c:pt idx="3">
                  <c:v>Chile</c:v>
                </c:pt>
                <c:pt idx="4">
                  <c:v>Netherlands</c:v>
                </c:pt>
                <c:pt idx="5">
                  <c:v>Belgium</c:v>
                </c:pt>
                <c:pt idx="6">
                  <c:v>Germany</c:v>
                </c:pt>
                <c:pt idx="7">
                  <c:v>France</c:v>
                </c:pt>
                <c:pt idx="8">
                  <c:v>Brazil</c:v>
                </c:pt>
                <c:pt idx="9">
                  <c:v>United Kingdom</c:v>
                </c:pt>
                <c:pt idx="10">
                  <c:v>USA</c:v>
                </c:pt>
                <c:pt idx="11">
                  <c:v>Canada</c:v>
                </c:pt>
                <c:pt idx="12">
                  <c:v>Poland</c:v>
                </c:pt>
                <c:pt idx="13">
                  <c:v>India</c:v>
                </c:pt>
                <c:pt idx="14">
                  <c:v>Portugal</c:v>
                </c:pt>
                <c:pt idx="15">
                  <c:v>Finland</c:v>
                </c:pt>
                <c:pt idx="16">
                  <c:v>Australia</c:v>
                </c:pt>
                <c:pt idx="17">
                  <c:v>Hungary</c:v>
                </c:pt>
                <c:pt idx="18">
                  <c:v>Ireland</c:v>
                </c:pt>
                <c:pt idx="19">
                  <c:v>Sweden</c:v>
                </c:pt>
                <c:pt idx="20">
                  <c:v>Italy</c:v>
                </c:pt>
                <c:pt idx="21">
                  <c:v>Czech Republic</c:v>
                </c:pt>
                <c:pt idx="22">
                  <c:v>Austria</c:v>
                </c:pt>
                <c:pt idx="23">
                  <c:v>Argentina</c:v>
                </c:pt>
              </c:strCache>
            </c:strRef>
          </c:cat>
          <c:val>
            <c:numRef>
              <c:f>'SUB-Q-5'!$C$2:$C$25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3</c:v>
                </c:pt>
                <c:pt idx="8">
                  <c:v>3</c:v>
                </c:pt>
                <c:pt idx="9">
                  <c:v>2</c:v>
                </c:pt>
                <c:pt idx="10">
                  <c:v>11</c:v>
                </c:pt>
                <c:pt idx="11">
                  <c:v>7</c:v>
                </c:pt>
                <c:pt idx="12">
                  <c:v>1</c:v>
                </c:pt>
                <c:pt idx="13">
                  <c:v>2</c:v>
                </c:pt>
                <c:pt idx="14">
                  <c:v>2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2</c:v>
                </c:pt>
                <c:pt idx="22">
                  <c:v>1</c:v>
                </c:pt>
                <c:pt idx="2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B1-4D32-BD2C-68551431A6AF}"/>
            </c:ext>
          </c:extLst>
        </c:ser>
        <c:ser>
          <c:idx val="2"/>
          <c:order val="2"/>
          <c:tx>
            <c:strRef>
              <c:f>'SUB-Q-5'!$D$1</c:f>
              <c:strCache>
                <c:ptCount val="1"/>
                <c:pt idx="0">
                  <c:v>Churned_Customers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'SUB-Q-5'!$A$2:$A$25</c:f>
              <c:strCache>
                <c:ptCount val="24"/>
                <c:pt idx="0">
                  <c:v>Denmark</c:v>
                </c:pt>
                <c:pt idx="1">
                  <c:v>Norway</c:v>
                </c:pt>
                <c:pt idx="2">
                  <c:v>Spain</c:v>
                </c:pt>
                <c:pt idx="3">
                  <c:v>Chile</c:v>
                </c:pt>
                <c:pt idx="4">
                  <c:v>Netherlands</c:v>
                </c:pt>
                <c:pt idx="5">
                  <c:v>Belgium</c:v>
                </c:pt>
                <c:pt idx="6">
                  <c:v>Germany</c:v>
                </c:pt>
                <c:pt idx="7">
                  <c:v>France</c:v>
                </c:pt>
                <c:pt idx="8">
                  <c:v>Brazil</c:v>
                </c:pt>
                <c:pt idx="9">
                  <c:v>United Kingdom</c:v>
                </c:pt>
                <c:pt idx="10">
                  <c:v>USA</c:v>
                </c:pt>
                <c:pt idx="11">
                  <c:v>Canada</c:v>
                </c:pt>
                <c:pt idx="12">
                  <c:v>Poland</c:v>
                </c:pt>
                <c:pt idx="13">
                  <c:v>India</c:v>
                </c:pt>
                <c:pt idx="14">
                  <c:v>Portugal</c:v>
                </c:pt>
                <c:pt idx="15">
                  <c:v>Finland</c:v>
                </c:pt>
                <c:pt idx="16">
                  <c:v>Australia</c:v>
                </c:pt>
                <c:pt idx="17">
                  <c:v>Hungary</c:v>
                </c:pt>
                <c:pt idx="18">
                  <c:v>Ireland</c:v>
                </c:pt>
                <c:pt idx="19">
                  <c:v>Sweden</c:v>
                </c:pt>
                <c:pt idx="20">
                  <c:v>Italy</c:v>
                </c:pt>
                <c:pt idx="21">
                  <c:v>Czech Republic</c:v>
                </c:pt>
                <c:pt idx="22">
                  <c:v>Austria</c:v>
                </c:pt>
                <c:pt idx="23">
                  <c:v>Argentina</c:v>
                </c:pt>
              </c:strCache>
            </c:strRef>
          </c:cat>
          <c:val>
            <c:numRef>
              <c:f>'SUB-Q-5'!$D$2:$D$25</c:f>
              <c:numCache>
                <c:formatCode>General</c:formatCode>
                <c:ptCount val="2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2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EB1-4D32-BD2C-68551431A6AF}"/>
            </c:ext>
          </c:extLst>
        </c:ser>
        <c:ser>
          <c:idx val="3"/>
          <c:order val="3"/>
          <c:tx>
            <c:strRef>
              <c:f>'SUB-Q-5'!$E$1</c:f>
              <c:strCache>
                <c:ptCount val="1"/>
                <c:pt idx="0">
                  <c:v>Churn_Rate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'SUB-Q-5'!$A$2:$A$25</c:f>
              <c:strCache>
                <c:ptCount val="24"/>
                <c:pt idx="0">
                  <c:v>Denmark</c:v>
                </c:pt>
                <c:pt idx="1">
                  <c:v>Norway</c:v>
                </c:pt>
                <c:pt idx="2">
                  <c:v>Spain</c:v>
                </c:pt>
                <c:pt idx="3">
                  <c:v>Chile</c:v>
                </c:pt>
                <c:pt idx="4">
                  <c:v>Netherlands</c:v>
                </c:pt>
                <c:pt idx="5">
                  <c:v>Belgium</c:v>
                </c:pt>
                <c:pt idx="6">
                  <c:v>Germany</c:v>
                </c:pt>
                <c:pt idx="7">
                  <c:v>France</c:v>
                </c:pt>
                <c:pt idx="8">
                  <c:v>Brazil</c:v>
                </c:pt>
                <c:pt idx="9">
                  <c:v>United Kingdom</c:v>
                </c:pt>
                <c:pt idx="10">
                  <c:v>USA</c:v>
                </c:pt>
                <c:pt idx="11">
                  <c:v>Canada</c:v>
                </c:pt>
                <c:pt idx="12">
                  <c:v>Poland</c:v>
                </c:pt>
                <c:pt idx="13">
                  <c:v>India</c:v>
                </c:pt>
                <c:pt idx="14">
                  <c:v>Portugal</c:v>
                </c:pt>
                <c:pt idx="15">
                  <c:v>Finland</c:v>
                </c:pt>
                <c:pt idx="16">
                  <c:v>Australia</c:v>
                </c:pt>
                <c:pt idx="17">
                  <c:v>Hungary</c:v>
                </c:pt>
                <c:pt idx="18">
                  <c:v>Ireland</c:v>
                </c:pt>
                <c:pt idx="19">
                  <c:v>Sweden</c:v>
                </c:pt>
                <c:pt idx="20">
                  <c:v>Italy</c:v>
                </c:pt>
                <c:pt idx="21">
                  <c:v>Czech Republic</c:v>
                </c:pt>
                <c:pt idx="22">
                  <c:v>Austria</c:v>
                </c:pt>
                <c:pt idx="23">
                  <c:v>Argentina</c:v>
                </c:pt>
              </c:strCache>
            </c:strRef>
          </c:cat>
          <c:val>
            <c:numRef>
              <c:f>'SUB-Q-5'!$E$2:$E$25</c:f>
              <c:numCache>
                <c:formatCode>General</c:formatCode>
                <c:ptCount val="2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50</c:v>
                </c:pt>
                <c:pt idx="7">
                  <c:v>40</c:v>
                </c:pt>
                <c:pt idx="8">
                  <c:v>40</c:v>
                </c:pt>
                <c:pt idx="9">
                  <c:v>33.33</c:v>
                </c:pt>
                <c:pt idx="10">
                  <c:v>15.38</c:v>
                </c:pt>
                <c:pt idx="11">
                  <c:v>12.5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EB1-4D32-BD2C-68551431A6AF}"/>
            </c:ext>
          </c:extLst>
        </c:ser>
        <c:ser>
          <c:idx val="4"/>
          <c:order val="4"/>
          <c:tx>
            <c:strRef>
              <c:f>'SUB-Q-5'!$F$1</c:f>
              <c:strCache>
                <c:ptCount val="1"/>
                <c:pt idx="0">
                  <c:v>Total_Purchases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'SUB-Q-5'!$A$2:$A$25</c:f>
              <c:strCache>
                <c:ptCount val="24"/>
                <c:pt idx="0">
                  <c:v>Denmark</c:v>
                </c:pt>
                <c:pt idx="1">
                  <c:v>Norway</c:v>
                </c:pt>
                <c:pt idx="2">
                  <c:v>Spain</c:v>
                </c:pt>
                <c:pt idx="3">
                  <c:v>Chile</c:v>
                </c:pt>
                <c:pt idx="4">
                  <c:v>Netherlands</c:v>
                </c:pt>
                <c:pt idx="5">
                  <c:v>Belgium</c:v>
                </c:pt>
                <c:pt idx="6">
                  <c:v>Germany</c:v>
                </c:pt>
                <c:pt idx="7">
                  <c:v>France</c:v>
                </c:pt>
                <c:pt idx="8">
                  <c:v>Brazil</c:v>
                </c:pt>
                <c:pt idx="9">
                  <c:v>United Kingdom</c:v>
                </c:pt>
                <c:pt idx="10">
                  <c:v>USA</c:v>
                </c:pt>
                <c:pt idx="11">
                  <c:v>Canada</c:v>
                </c:pt>
                <c:pt idx="12">
                  <c:v>Poland</c:v>
                </c:pt>
                <c:pt idx="13">
                  <c:v>India</c:v>
                </c:pt>
                <c:pt idx="14">
                  <c:v>Portugal</c:v>
                </c:pt>
                <c:pt idx="15">
                  <c:v>Finland</c:v>
                </c:pt>
                <c:pt idx="16">
                  <c:v>Australia</c:v>
                </c:pt>
                <c:pt idx="17">
                  <c:v>Hungary</c:v>
                </c:pt>
                <c:pt idx="18">
                  <c:v>Ireland</c:v>
                </c:pt>
                <c:pt idx="19">
                  <c:v>Sweden</c:v>
                </c:pt>
                <c:pt idx="20">
                  <c:v>Italy</c:v>
                </c:pt>
                <c:pt idx="21">
                  <c:v>Czech Republic</c:v>
                </c:pt>
                <c:pt idx="22">
                  <c:v>Austria</c:v>
                </c:pt>
                <c:pt idx="23">
                  <c:v>Argentina</c:v>
                </c:pt>
              </c:strCache>
            </c:strRef>
          </c:cat>
          <c:val>
            <c:numRef>
              <c:f>'SUB-Q-5'!$F$2:$F$25</c:f>
              <c:numCache>
                <c:formatCode>General</c:formatCode>
                <c:ptCount val="24"/>
                <c:pt idx="0">
                  <c:v>10</c:v>
                </c:pt>
                <c:pt idx="1">
                  <c:v>9</c:v>
                </c:pt>
                <c:pt idx="2">
                  <c:v>11</c:v>
                </c:pt>
                <c:pt idx="3">
                  <c:v>13</c:v>
                </c:pt>
                <c:pt idx="4">
                  <c:v>10</c:v>
                </c:pt>
                <c:pt idx="5">
                  <c:v>7</c:v>
                </c:pt>
                <c:pt idx="6">
                  <c:v>41</c:v>
                </c:pt>
                <c:pt idx="7">
                  <c:v>50</c:v>
                </c:pt>
                <c:pt idx="8">
                  <c:v>61</c:v>
                </c:pt>
                <c:pt idx="9">
                  <c:v>28</c:v>
                </c:pt>
                <c:pt idx="10">
                  <c:v>131</c:v>
                </c:pt>
                <c:pt idx="11">
                  <c:v>76</c:v>
                </c:pt>
                <c:pt idx="12">
                  <c:v>10</c:v>
                </c:pt>
                <c:pt idx="13">
                  <c:v>21</c:v>
                </c:pt>
                <c:pt idx="14">
                  <c:v>29</c:v>
                </c:pt>
                <c:pt idx="15">
                  <c:v>11</c:v>
                </c:pt>
                <c:pt idx="16">
                  <c:v>10</c:v>
                </c:pt>
                <c:pt idx="17">
                  <c:v>10</c:v>
                </c:pt>
                <c:pt idx="18">
                  <c:v>13</c:v>
                </c:pt>
                <c:pt idx="19">
                  <c:v>10</c:v>
                </c:pt>
                <c:pt idx="20">
                  <c:v>9</c:v>
                </c:pt>
                <c:pt idx="21">
                  <c:v>30</c:v>
                </c:pt>
                <c:pt idx="22">
                  <c:v>9</c:v>
                </c:pt>
                <c:pt idx="2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EB1-4D32-BD2C-68551431A6AF}"/>
            </c:ext>
          </c:extLst>
        </c:ser>
        <c:ser>
          <c:idx val="5"/>
          <c:order val="5"/>
          <c:tx>
            <c:strRef>
              <c:f>'SUB-Q-5'!$G$1</c:f>
              <c:strCache>
                <c:ptCount val="1"/>
                <c:pt idx="0">
                  <c:v>Avg_Spend_Per_Customer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'SUB-Q-5'!$A$2:$A$25</c:f>
              <c:strCache>
                <c:ptCount val="24"/>
                <c:pt idx="0">
                  <c:v>Denmark</c:v>
                </c:pt>
                <c:pt idx="1">
                  <c:v>Norway</c:v>
                </c:pt>
                <c:pt idx="2">
                  <c:v>Spain</c:v>
                </c:pt>
                <c:pt idx="3">
                  <c:v>Chile</c:v>
                </c:pt>
                <c:pt idx="4">
                  <c:v>Netherlands</c:v>
                </c:pt>
                <c:pt idx="5">
                  <c:v>Belgium</c:v>
                </c:pt>
                <c:pt idx="6">
                  <c:v>Germany</c:v>
                </c:pt>
                <c:pt idx="7">
                  <c:v>France</c:v>
                </c:pt>
                <c:pt idx="8">
                  <c:v>Brazil</c:v>
                </c:pt>
                <c:pt idx="9">
                  <c:v>United Kingdom</c:v>
                </c:pt>
                <c:pt idx="10">
                  <c:v>USA</c:v>
                </c:pt>
                <c:pt idx="11">
                  <c:v>Canada</c:v>
                </c:pt>
                <c:pt idx="12">
                  <c:v>Poland</c:v>
                </c:pt>
                <c:pt idx="13">
                  <c:v>India</c:v>
                </c:pt>
                <c:pt idx="14">
                  <c:v>Portugal</c:v>
                </c:pt>
                <c:pt idx="15">
                  <c:v>Finland</c:v>
                </c:pt>
                <c:pt idx="16">
                  <c:v>Australia</c:v>
                </c:pt>
                <c:pt idx="17">
                  <c:v>Hungary</c:v>
                </c:pt>
                <c:pt idx="18">
                  <c:v>Ireland</c:v>
                </c:pt>
                <c:pt idx="19">
                  <c:v>Sweden</c:v>
                </c:pt>
                <c:pt idx="20">
                  <c:v>Italy</c:v>
                </c:pt>
                <c:pt idx="21">
                  <c:v>Czech Republic</c:v>
                </c:pt>
                <c:pt idx="22">
                  <c:v>Austria</c:v>
                </c:pt>
                <c:pt idx="23">
                  <c:v>Argentina</c:v>
                </c:pt>
              </c:strCache>
            </c:strRef>
          </c:cat>
          <c:val>
            <c:numRef>
              <c:f>'SUB-Q-5'!$G$2:$G$25</c:f>
              <c:numCache>
                <c:formatCode>General</c:formatCode>
                <c:ptCount val="24"/>
                <c:pt idx="0">
                  <c:v>37.619999999999997</c:v>
                </c:pt>
                <c:pt idx="1">
                  <c:v>72.27</c:v>
                </c:pt>
                <c:pt idx="2">
                  <c:v>98.01</c:v>
                </c:pt>
                <c:pt idx="3">
                  <c:v>97.02</c:v>
                </c:pt>
                <c:pt idx="4">
                  <c:v>65.34</c:v>
                </c:pt>
                <c:pt idx="5">
                  <c:v>60.39</c:v>
                </c:pt>
                <c:pt idx="6">
                  <c:v>83.66</c:v>
                </c:pt>
                <c:pt idx="7">
                  <c:v>77.81</c:v>
                </c:pt>
                <c:pt idx="8">
                  <c:v>85.54</c:v>
                </c:pt>
                <c:pt idx="9">
                  <c:v>81.84</c:v>
                </c:pt>
                <c:pt idx="10">
                  <c:v>80.040000000000006</c:v>
                </c:pt>
                <c:pt idx="11">
                  <c:v>66.95</c:v>
                </c:pt>
                <c:pt idx="12">
                  <c:v>76.23</c:v>
                </c:pt>
                <c:pt idx="13">
                  <c:v>91.58</c:v>
                </c:pt>
                <c:pt idx="14">
                  <c:v>92.57</c:v>
                </c:pt>
                <c:pt idx="15">
                  <c:v>79.2</c:v>
                </c:pt>
                <c:pt idx="16">
                  <c:v>81.180000000000007</c:v>
                </c:pt>
                <c:pt idx="17">
                  <c:v>78.209999999999994</c:v>
                </c:pt>
                <c:pt idx="18">
                  <c:v>114.84</c:v>
                </c:pt>
                <c:pt idx="19">
                  <c:v>75.239999999999995</c:v>
                </c:pt>
                <c:pt idx="20">
                  <c:v>50.49</c:v>
                </c:pt>
                <c:pt idx="21">
                  <c:v>136.62</c:v>
                </c:pt>
                <c:pt idx="22">
                  <c:v>69.3</c:v>
                </c:pt>
                <c:pt idx="23">
                  <c:v>39.6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EB1-4D32-BD2C-68551431A6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7295872"/>
        <c:axId val="1457293376"/>
      </c:barChart>
      <c:catAx>
        <c:axId val="1457295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7293376"/>
        <c:crosses val="autoZero"/>
        <c:auto val="1"/>
        <c:lblAlgn val="ctr"/>
        <c:lblOffset val="100"/>
        <c:noMultiLvlLbl val="0"/>
      </c:catAx>
      <c:valAx>
        <c:axId val="14572933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7295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202E-4129-4729-879F-9D728F741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E36B6-B09D-4E40-978F-51C35A9F2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BCC6E-345E-4A21-8442-9A3D91A0D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A3F6-7EC5-4AE6-B899-EC8F53F15C0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573E5-64DB-4ED1-851D-761AE19A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F56A5-76BE-4897-BFD9-B102C752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214A8-1CCC-4BE2-B1AF-EB9ADE1B5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90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73405-BCD0-45F6-80C2-49A8A0E2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81BFD-FE27-4B1D-80AD-42EE2CFF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9E5E2-0823-4B9F-8AAC-38D0E1C2A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A3F6-7EC5-4AE6-B899-EC8F53F15C0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7DD19-A32A-411A-8F5C-EBB4BE745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000C7-3111-4B56-9308-53826DC9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214A8-1CCC-4BE2-B1AF-EB9ADE1B5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639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929AC-B038-437C-A55A-FE01AC7C7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8A9B7-DABD-473C-B337-563F079F7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E71DC-9C7E-4CE1-B147-148CAFC7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A3F6-7EC5-4AE6-B899-EC8F53F15C0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22CC9-C0A4-458F-8097-05C9FA6B7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9FF1F-87E8-46A8-8442-8E4DB6E38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214A8-1CCC-4BE2-B1AF-EB9ADE1B5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443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56BE-580E-4CE1-AB6D-1E9963E8C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7CBA3-4B7A-4695-8B97-124B70181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FA47D-18F6-4A6D-9A7D-E0564B3FF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513D7-4A06-49CD-AC0D-C0DA65F66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A3F6-7EC5-4AE6-B899-EC8F53F15C0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ED52F-C4F2-4AE6-BA9E-B7BE3F61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33375-9514-4269-8E84-E32DCF6A8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214A8-1CCC-4BE2-B1AF-EB9ADE1B5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37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CF377-22E1-409A-B7BF-AB841BA2D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88AF4-01A0-4603-8660-A75CD9FE0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3D642-71CB-4159-9CA0-FE832A9CC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112E4-E591-4E31-AB17-1AD1B8BAF6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275B4-51C2-44B2-AC58-531F23D34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31DC9A-B546-4EC2-A78F-C1C560491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A3F6-7EC5-4AE6-B899-EC8F53F15C0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E3817A-29D9-4540-8E92-0D5F2A1E5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6044BC-804A-4A3E-B9B1-68F0CCFEF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214A8-1CCC-4BE2-B1AF-EB9ADE1B5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99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C9A2-2412-49D7-A64F-3482FDBFD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ECCB18-22BD-4B54-9538-4E3895B4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A3F6-7EC5-4AE6-B899-EC8F53F15C0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C9924-3D7C-4242-A76A-4CB104CA1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7868D-B2A0-4804-A5A9-494D1F73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214A8-1CCC-4BE2-B1AF-EB9ADE1B5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11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0B61A-FEC4-41BE-A167-0BF61D050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A3F6-7EC5-4AE6-B899-EC8F53F15C0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96484-976A-41FD-AC9C-33B51423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C429A-F99C-4C60-897B-C90AA010A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214A8-1CCC-4BE2-B1AF-EB9ADE1B5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974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B46AC-D65B-45CD-B895-6A14EFC0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852C5-5ADA-4150-95D9-E11BB5610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F305B-035C-4280-9F19-FDA26666E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5643D-9573-450B-ADA4-BF30EBE56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A3F6-7EC5-4AE6-B899-EC8F53F15C0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C7CF0-4853-42CD-A4C3-ADA8AD1B1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553C8-53EA-416D-9D13-63B12F0A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214A8-1CCC-4BE2-B1AF-EB9ADE1B5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649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1839-D25A-45D1-9591-6B7703729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1C2594-6622-4918-8C67-FD4C0C6614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556C4-24FB-4073-B6A5-6A0F2C949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65952-88CD-4407-9A0D-D75A71CB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A3F6-7EC5-4AE6-B899-EC8F53F15C0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BE662-C95E-4D37-BCE7-8494A5776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31FB2-1740-4A99-A57E-FEFA00217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214A8-1CCC-4BE2-B1AF-EB9ADE1B5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8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18C8D-DDF9-4114-B186-CEAB9CC26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8A40F-29EC-410B-8EED-B135FB25B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F5282-0F08-43A1-BA6E-CAB34699C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A3F6-7EC5-4AE6-B899-EC8F53F15C0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21EC3-D0B6-4FDA-8663-4BEAE5FC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43F24-751E-4923-B697-1AA5A424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214A8-1CCC-4BE2-B1AF-EB9ADE1B5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37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14974E-2744-4138-AE2B-3B035C86B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00142-2372-432C-8305-063697144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DF840-75E8-453D-903F-830786939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A3F6-7EC5-4AE6-B899-EC8F53F15C0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19BC3-38FD-48BE-8296-4DE82AA50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926DE-F437-4E4B-B0C1-664671B9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214A8-1CCC-4BE2-B1AF-EB9ADE1B5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437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14355D-F11E-4877-92B6-CEE9F12B6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1E5B1-94B8-479B-A707-F2BBCB620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347C6-A2D6-4C2C-B000-78F288163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7A3F6-7EC5-4AE6-B899-EC8F53F15C0C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9CE26-F3FD-447F-94FD-F65B486EF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5C487-C164-4FC8-95C1-9A2FEECFD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214A8-1CCC-4BE2-B1AF-EB9ADE1B56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022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>
            <a:extLst>
              <a:ext uri="{FF2B5EF4-FFF2-40B4-BE49-F238E27FC236}">
                <a16:creationId xmlns:a16="http://schemas.microsoft.com/office/drawing/2014/main" id="{E1D69F6A-5FA9-4F81-A14D-804B325E7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274"/>
            <a:ext cx="9144000" cy="1655763"/>
          </a:xfrm>
        </p:spPr>
        <p:txBody>
          <a:bodyPr/>
          <a:lstStyle/>
          <a:p>
            <a:r>
              <a:rPr lang="en-IN" b="1" i="1" dirty="0"/>
              <a:t>Chinook Music Store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FF5D9-7B9A-41C5-BB88-F985AD7C16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                              </a:t>
            </a:r>
            <a:r>
              <a:rPr lang="en-IN" i="1" dirty="0"/>
              <a:t> By:</a:t>
            </a:r>
          </a:p>
          <a:p>
            <a:r>
              <a:rPr lang="en-IN" i="1" dirty="0"/>
              <a:t>                                                                    </a:t>
            </a:r>
            <a:r>
              <a:rPr lang="en-IN" i="1" dirty="0" err="1"/>
              <a:t>Syeda</a:t>
            </a:r>
            <a:r>
              <a:rPr lang="en-IN" i="1" dirty="0"/>
              <a:t> Saima Nasreen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D0AD2-D9C7-4822-BC7E-D88D2DA71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290512"/>
            <a:ext cx="847725" cy="847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171AA2-C392-4617-8A88-DE340B8E0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862" y="5489575"/>
            <a:ext cx="1000125" cy="1000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2B96FD-A0ED-4CD0-A538-C3CB5850B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499" y="368300"/>
            <a:ext cx="1000126" cy="10001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A55652-172F-4500-813D-BA6FC0471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5732463"/>
            <a:ext cx="876300" cy="876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38D041-06DA-4D5C-95FB-1F3335D5DE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2388" y="307977"/>
            <a:ext cx="847726" cy="8477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7D3529-B457-4AA7-85FA-65B351A7C3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2388" y="5513388"/>
            <a:ext cx="1095375" cy="10953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A0C5F81-B6B8-418F-917A-C609C9987B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9573" y="307977"/>
            <a:ext cx="868362" cy="868362"/>
          </a:xfrm>
          <a:prstGeom prst="rect">
            <a:avLst/>
          </a:prstGeom>
        </p:spPr>
      </p:pic>
      <p:pic>
        <p:nvPicPr>
          <p:cNvPr id="27" name="Picture 2" descr="Music player ">
            <a:extLst>
              <a:ext uri="{FF2B5EF4-FFF2-40B4-BE49-F238E27FC236}">
                <a16:creationId xmlns:a16="http://schemas.microsoft.com/office/drawing/2014/main" id="{8E199F92-BD2D-4C0D-8E3B-6427F7241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023" y="5732463"/>
            <a:ext cx="809626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usic player">
            <a:extLst>
              <a:ext uri="{FF2B5EF4-FFF2-40B4-BE49-F238E27FC236}">
                <a16:creationId xmlns:a16="http://schemas.microsoft.com/office/drawing/2014/main" id="{8E3D81A1-D070-4CC9-BE17-CAAC29CA6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46362"/>
            <a:ext cx="8763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ncert">
            <a:extLst>
              <a:ext uri="{FF2B5EF4-FFF2-40B4-BE49-F238E27FC236}">
                <a16:creationId xmlns:a16="http://schemas.microsoft.com/office/drawing/2014/main" id="{D968DFE3-26B9-4504-ADEB-DB16C1100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2517775"/>
            <a:ext cx="1152524" cy="115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83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14D70-EEE6-4E1C-9936-71765A67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               </a:t>
            </a:r>
            <a:r>
              <a:rPr lang="en-IN" sz="4000" b="1" i="1" dirty="0">
                <a:latin typeface="Segoe UI" panose="020B0502040204020203" pitchFamily="34" charset="0"/>
                <a:cs typeface="Segoe UI" panose="020B0502040204020203" pitchFamily="34" charset="0"/>
              </a:rPr>
              <a:t>About Chinook Music Store</a:t>
            </a:r>
            <a:endParaRPr lang="en-IN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 useBgFill="1">
        <p:nvSpPr>
          <p:cNvPr id="3" name="Content Placeholder 2">
            <a:extLst>
              <a:ext uri="{FF2B5EF4-FFF2-40B4-BE49-F238E27FC236}">
                <a16:creationId xmlns:a16="http://schemas.microsoft.com/office/drawing/2014/main" id="{B58306A5-D74A-4D52-A49A-9824C747E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01"/>
            <a:ext cx="10687052" cy="24034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Chin</a:t>
            </a:r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ook Music Service in East Wenatchee, WA, established in 1995, is a premier, full-service music store providing instrument sales, rentals, and repairs for North Central Washington.</a:t>
            </a:r>
          </a:p>
          <a:p>
            <a:endParaRPr lang="en-US" sz="3200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F55C75-4D79-42F1-851B-BC8240FBD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48" y="365125"/>
            <a:ext cx="1180461" cy="1025525"/>
          </a:xfrm>
          <a:prstGeom prst="rect">
            <a:avLst/>
          </a:prstGeom>
        </p:spPr>
      </p:pic>
      <p:pic>
        <p:nvPicPr>
          <p:cNvPr id="3074" name="Picture 2" descr="Music notes ">
            <a:extLst>
              <a:ext uri="{FF2B5EF4-FFF2-40B4-BE49-F238E27FC236}">
                <a16:creationId xmlns:a16="http://schemas.microsoft.com/office/drawing/2014/main" id="{B946B448-3F7F-42FC-AEAC-B69EDE4FA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472598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G clef musical note ">
            <a:extLst>
              <a:ext uri="{FF2B5EF4-FFF2-40B4-BE49-F238E27FC236}">
                <a16:creationId xmlns:a16="http://schemas.microsoft.com/office/drawing/2014/main" id="{2A25481E-FDEB-4DE1-8511-9C529175A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1" y="4648201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Spotify ">
            <a:extLst>
              <a:ext uri="{FF2B5EF4-FFF2-40B4-BE49-F238E27FC236}">
                <a16:creationId xmlns:a16="http://schemas.microsoft.com/office/drawing/2014/main" id="{884F8056-BDF0-4541-ACBE-6C1CC019C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1075" y="4640264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487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01288-3A64-4B1B-BBD9-5EB7110D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/>
              <a:t>         </a:t>
            </a:r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  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A046-6F85-4D29-AF58-1C585D514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34600" cy="31369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i="1" dirty="0">
                <a:latin typeface="Segoe UI" panose="020B0502040204020203" pitchFamily="34" charset="0"/>
                <a:cs typeface="Segoe UI" panose="020B0502040204020203" pitchFamily="34" charset="0"/>
              </a:rPr>
              <a:t>You are hired as a data analyst at Chinook, and your objective is to analyze music record sales data to gain insights and make recommendations for the company's strategy in the physical music market.</a:t>
            </a:r>
            <a:endParaRPr lang="en-IN" sz="24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2" descr="Problem ">
            <a:extLst>
              <a:ext uri="{FF2B5EF4-FFF2-40B4-BE49-F238E27FC236}">
                <a16:creationId xmlns:a16="http://schemas.microsoft.com/office/drawing/2014/main" id="{467BD9F2-2983-4102-B1BA-8D71811C0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50" y="477044"/>
            <a:ext cx="1028700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usic ">
            <a:extLst>
              <a:ext uri="{FF2B5EF4-FFF2-40B4-BE49-F238E27FC236}">
                <a16:creationId xmlns:a16="http://schemas.microsoft.com/office/drawing/2014/main" id="{6556AE78-688F-46D4-82EB-AAEF1340F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5210174"/>
            <a:ext cx="1117599" cy="111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Music ">
            <a:extLst>
              <a:ext uri="{FF2B5EF4-FFF2-40B4-BE49-F238E27FC236}">
                <a16:creationId xmlns:a16="http://schemas.microsoft.com/office/drawing/2014/main" id="{88011FE0-9E41-4EA8-AAD2-B7214DBA9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5097462"/>
            <a:ext cx="1117599" cy="111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Music">
            <a:extLst>
              <a:ext uri="{FF2B5EF4-FFF2-40B4-BE49-F238E27FC236}">
                <a16:creationId xmlns:a16="http://schemas.microsoft.com/office/drawing/2014/main" id="{7B2145A6-B3DC-404C-95EE-DF27525E9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100" y="49625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8789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23427-C1BD-4CB8-B6CF-BC71BD532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20750"/>
          </a:xfrm>
        </p:spPr>
        <p:txBody>
          <a:bodyPr/>
          <a:lstStyle/>
          <a:p>
            <a:pPr algn="ctr"/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Data Dictionary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8BFB4-FC0B-42CE-8786-5DCFB593D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9738" y="1328737"/>
            <a:ext cx="5157787" cy="626269"/>
          </a:xfrm>
          <a:ln>
            <a:noFill/>
          </a:ln>
        </p:spPr>
        <p:txBody>
          <a:bodyPr/>
          <a:lstStyle/>
          <a:p>
            <a:pPr algn="ctr"/>
            <a:r>
              <a:rPr lang="en-IN" i="1" u="sng" dirty="0"/>
              <a:t>customer</a:t>
            </a:r>
            <a:r>
              <a:rPr lang="en-IN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90526-7DA6-4B20-8918-D1D5473E1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699" y="1955006"/>
            <a:ext cx="6162675" cy="4902994"/>
          </a:xfrm>
        </p:spPr>
        <p:txBody>
          <a:bodyPr>
            <a:normAutofit fontScale="25000" lnSpcReduction="20000"/>
          </a:bodyPr>
          <a:lstStyle/>
          <a:p>
            <a:pPr fontAlgn="base">
              <a:lnSpc>
                <a:spcPct val="12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Unique identifier assigned to each customer.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first_name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given name or first name of a customer.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last_name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surname or family name of a customer.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company: The name of the company associated with a customer.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address: The street address of a customer's location.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city: The city where a customer is located.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state: The state or province where a customer is located.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country: The country where a customer is located.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postal_code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postal or zip code of a customer's address.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phone: The phone number of a customer.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fax: The fax number associated with a customer.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email: The email address of a customer.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support_rep_id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employee ID of the support representative assigned to a customer</a:t>
            </a:r>
            <a:r>
              <a:rPr lang="en-US" sz="4800" i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006D4-11DF-422F-80C4-C8F336EF6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328737"/>
            <a:ext cx="5183188" cy="566737"/>
          </a:xfrm>
          <a:ln>
            <a:noFill/>
          </a:ln>
        </p:spPr>
        <p:txBody>
          <a:bodyPr/>
          <a:lstStyle/>
          <a:p>
            <a:pPr algn="ctr"/>
            <a:r>
              <a:rPr lang="en-IN" i="1" u="sng" dirty="0"/>
              <a:t>invoice</a:t>
            </a:r>
            <a:r>
              <a:rPr lang="en-IN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BFC053-A585-4DAE-BFA8-14B11A0AE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9374" y="1955006"/>
            <a:ext cx="5419726" cy="46839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sz="3200" dirty="0"/>
          </a:p>
          <a:p>
            <a:pPr fontAlgn="base">
              <a:lnSpc>
                <a:spcPct val="17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invoice_id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Unique identifier assigned to each invoice.</a:t>
            </a:r>
          </a:p>
          <a:p>
            <a:pPr fontAlgn="base">
              <a:lnSpc>
                <a:spcPct val="17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customer_id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customer ID associated with the invoice.</a:t>
            </a:r>
          </a:p>
          <a:p>
            <a:pPr fontAlgn="base">
              <a:lnSpc>
                <a:spcPct val="17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invoice_date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date when the invoice was generated or issued.</a:t>
            </a:r>
          </a:p>
          <a:p>
            <a:pPr fontAlgn="base">
              <a:lnSpc>
                <a:spcPct val="17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billing_address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street address used for billing purposes.</a:t>
            </a:r>
          </a:p>
          <a:p>
            <a:pPr fontAlgn="base">
              <a:lnSpc>
                <a:spcPct val="17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billing_city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city used for billing purposes.</a:t>
            </a:r>
          </a:p>
          <a:p>
            <a:pPr fontAlgn="base">
              <a:lnSpc>
                <a:spcPct val="17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billing_state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state or province used for billing purposes.</a:t>
            </a:r>
          </a:p>
          <a:p>
            <a:pPr fontAlgn="base">
              <a:lnSpc>
                <a:spcPct val="17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billing_country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country used for billing purposes.</a:t>
            </a:r>
          </a:p>
          <a:p>
            <a:pPr fontAlgn="base">
              <a:lnSpc>
                <a:spcPct val="17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billing_postal_code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postal or zip code used for billing purposes.</a:t>
            </a:r>
          </a:p>
          <a:p>
            <a:pPr fontAlgn="base">
              <a:lnSpc>
                <a:spcPct val="17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total: The total amount due on the invoice.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2" descr="Book ">
            <a:extLst>
              <a:ext uri="{FF2B5EF4-FFF2-40B4-BE49-F238E27FC236}">
                <a16:creationId xmlns:a16="http://schemas.microsoft.com/office/drawing/2014/main" id="{4BE5140C-39DC-4C53-9FF7-6716FD8E3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2" y="406001"/>
            <a:ext cx="809627" cy="809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961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23427-C1BD-4CB8-B6CF-BC71BD532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20750"/>
          </a:xfrm>
        </p:spPr>
        <p:txBody>
          <a:bodyPr/>
          <a:lstStyle/>
          <a:p>
            <a:pPr algn="ctr"/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Data Dictionary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8BFB4-FC0B-42CE-8786-5DCFB593D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788" y="1272777"/>
            <a:ext cx="5132387" cy="566737"/>
          </a:xfrm>
          <a:ln>
            <a:noFill/>
          </a:ln>
        </p:spPr>
        <p:txBody>
          <a:bodyPr/>
          <a:lstStyle/>
          <a:p>
            <a:pPr algn="ctr"/>
            <a:r>
              <a:rPr lang="en-IN" i="1" u="sng" dirty="0" err="1"/>
              <a:t>invoice_line</a:t>
            </a:r>
            <a:r>
              <a:rPr lang="en-IN" i="1" u="sng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90526-7DA6-4B20-8918-D1D5473E1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699" y="2122883"/>
            <a:ext cx="6162675" cy="4201716"/>
          </a:xfrm>
        </p:spPr>
        <p:txBody>
          <a:bodyPr>
            <a:normAutofit fontScale="25000" lnSpcReduction="20000"/>
          </a:bodyPr>
          <a:lstStyle/>
          <a:p>
            <a:pPr fontAlgn="base">
              <a:lnSpc>
                <a:spcPct val="17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invoice_line_id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Unique identifier assigned to each line item on an invoice.</a:t>
            </a:r>
          </a:p>
          <a:p>
            <a:pPr fontAlgn="base">
              <a:lnSpc>
                <a:spcPct val="17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invoice_id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invoice ID to which the line item belongs.</a:t>
            </a:r>
          </a:p>
          <a:p>
            <a:pPr fontAlgn="base">
              <a:lnSpc>
                <a:spcPct val="17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track_id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ID of the track or product included in the line item.</a:t>
            </a:r>
          </a:p>
          <a:p>
            <a:pPr fontAlgn="base">
              <a:lnSpc>
                <a:spcPct val="17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unit_price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price per unit for the line item.</a:t>
            </a:r>
          </a:p>
          <a:p>
            <a:pPr fontAlgn="base">
              <a:lnSpc>
                <a:spcPct val="17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quantity: The quantity of units for the line item.</a:t>
            </a:r>
          </a:p>
          <a:p>
            <a:pPr marL="0" indent="0" fontAlgn="base">
              <a:lnSpc>
                <a:spcPct val="170000"/>
              </a:lnSpc>
              <a:buNone/>
            </a:pPr>
            <a:endParaRPr lang="en-US" sz="44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ctr" fontAlgn="base">
              <a:lnSpc>
                <a:spcPct val="110000"/>
              </a:lnSpc>
              <a:buNone/>
            </a:pPr>
            <a:r>
              <a:rPr lang="en-IN" sz="9600" b="1" i="1" u="sng" dirty="0"/>
              <a:t>playlist</a:t>
            </a:r>
            <a:endParaRPr lang="en-US" sz="9600" b="1" i="1" u="sng" dirty="0"/>
          </a:p>
          <a:p>
            <a:pPr fontAlgn="base">
              <a:lnSpc>
                <a:spcPct val="170000"/>
              </a:lnSpc>
              <a:spcAft>
                <a:spcPts val="0"/>
              </a:spcAft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playlist_id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Unique identifier assigned to each playlist.</a:t>
            </a:r>
          </a:p>
          <a:p>
            <a:pPr fontAlgn="base">
              <a:lnSpc>
                <a:spcPct val="170000"/>
              </a:lnSpc>
              <a:spcAft>
                <a:spcPts val="0"/>
              </a:spcAft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name: The name or title of the playlist.</a:t>
            </a:r>
          </a:p>
          <a:p>
            <a:pPr marL="0" indent="0" fontAlgn="base">
              <a:lnSpc>
                <a:spcPct val="170000"/>
              </a:lnSpc>
              <a:buNone/>
            </a:pPr>
            <a:endParaRPr lang="en-US" sz="44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006D4-11DF-422F-80C4-C8F336EF6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285876"/>
            <a:ext cx="5183188" cy="566737"/>
          </a:xfrm>
          <a:ln>
            <a:noFill/>
          </a:ln>
        </p:spPr>
        <p:txBody>
          <a:bodyPr/>
          <a:lstStyle/>
          <a:p>
            <a:pPr algn="ctr"/>
            <a:r>
              <a:rPr lang="en-IN" sz="1800" b="1" i="1" u="sng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playlist_track</a:t>
            </a:r>
            <a:r>
              <a:rPr lang="en-IN" u="sng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BFC053-A585-4DAE-BFA8-14B11A0AE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9374" y="1852614"/>
            <a:ext cx="5286375" cy="4471986"/>
          </a:xfrm>
        </p:spPr>
        <p:txBody>
          <a:bodyPr>
            <a:normAutofit fontScale="25000" lnSpcReduction="20000"/>
          </a:bodyPr>
          <a:lstStyle/>
          <a:p>
            <a:pPr fontAlgn="base">
              <a:lnSpc>
                <a:spcPct val="170000"/>
              </a:lnSpc>
            </a:pPr>
            <a:endParaRPr lang="en-US" sz="43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base">
              <a:lnSpc>
                <a:spcPct val="120000"/>
              </a:lnSpc>
              <a:spcAft>
                <a:spcPts val="0"/>
              </a:spcAft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playlist_id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ID of the playlist to which the track belongs.</a:t>
            </a:r>
          </a:p>
          <a:p>
            <a:pPr fontAlgn="base">
              <a:lnSpc>
                <a:spcPct val="120000"/>
              </a:lnSpc>
              <a:spcAft>
                <a:spcPts val="0"/>
              </a:spcAft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track_id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ID of the track included in the playlist.</a:t>
            </a:r>
          </a:p>
          <a:p>
            <a:pPr marL="0" indent="0" algn="ctr" fontAlgn="base">
              <a:lnSpc>
                <a:spcPct val="110000"/>
              </a:lnSpc>
              <a:spcAft>
                <a:spcPts val="0"/>
              </a:spcAft>
              <a:buNone/>
            </a:pPr>
            <a:r>
              <a:rPr lang="en-IN" sz="7200" b="1" i="1" u="sng" dirty="0">
                <a:solidFill>
                  <a:srgbClr val="000000"/>
                </a:solidFill>
                <a:latin typeface="Arial" panose="020B0604020202020204" pitchFamily="34" charset="0"/>
              </a:rPr>
              <a:t>track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track_id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Unique identifier assigned to each track or song.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name: The title or name of the track.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album_id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ID of the album to which the track belongs.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media_type_id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ID of the media type associated with the track.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genre_id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ID of the genre associated with the track.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composer: The name of the composer or artist who composed the track.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milliseconds: The duration of the track in milliseconds.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bytes: The file size of the track in bytes.</a:t>
            </a:r>
          </a:p>
          <a:p>
            <a:pPr fontAlgn="base">
              <a:lnSpc>
                <a:spcPct val="120000"/>
              </a:lnSpc>
            </a:pPr>
            <a:r>
              <a:rPr lang="en-US" sz="56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unit_price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: The price per unit for the track.</a:t>
            </a:r>
          </a:p>
          <a:p>
            <a:pPr marL="0" indent="0" algn="ctr">
              <a:lnSpc>
                <a:spcPct val="110000"/>
              </a:lnSpc>
              <a:buNone/>
            </a:pPr>
            <a:endParaRPr lang="en-IN" sz="5500" b="1" i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2" descr="Book ">
            <a:extLst>
              <a:ext uri="{FF2B5EF4-FFF2-40B4-BE49-F238E27FC236}">
                <a16:creationId xmlns:a16="http://schemas.microsoft.com/office/drawing/2014/main" id="{F1CD86B9-D013-43B3-9ECB-B5223754F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2" y="406001"/>
            <a:ext cx="809627" cy="809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1818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23427-C1BD-4CB8-B6CF-BC71BD532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20750"/>
          </a:xfrm>
        </p:spPr>
        <p:txBody>
          <a:bodyPr/>
          <a:lstStyle/>
          <a:p>
            <a:pPr algn="ctr"/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Data Dictionary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8BFB4-FC0B-42CE-8786-5DCFB593D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788" y="1272777"/>
            <a:ext cx="5132387" cy="566737"/>
          </a:xfrm>
          <a:ln>
            <a:noFill/>
          </a:ln>
        </p:spPr>
        <p:txBody>
          <a:bodyPr/>
          <a:lstStyle/>
          <a:p>
            <a:pPr algn="ctr"/>
            <a:r>
              <a:rPr lang="en-IN" i="1" u="sng" dirty="0"/>
              <a:t>album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90526-7DA6-4B20-8918-D1D5473E1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699" y="2122883"/>
            <a:ext cx="6162675" cy="4201716"/>
          </a:xfrm>
        </p:spPr>
        <p:txBody>
          <a:bodyPr>
            <a:normAutofit fontScale="40000" lnSpcReduction="20000"/>
          </a:bodyPr>
          <a:lstStyle/>
          <a:p>
            <a:pPr fontAlgn="base">
              <a:lnSpc>
                <a:spcPct val="170000"/>
              </a:lnSpc>
            </a:pPr>
            <a:r>
              <a:rPr lang="en-US" sz="40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album_id</a:t>
            </a:r>
            <a:r>
              <a:rPr lang="en-US" sz="4000" i="1" dirty="0">
                <a:latin typeface="Segoe UI" panose="020B0502040204020203" pitchFamily="34" charset="0"/>
                <a:cs typeface="Segoe UI" panose="020B0502040204020203" pitchFamily="34" charset="0"/>
              </a:rPr>
              <a:t>: Unique identifier assigned to each album.</a:t>
            </a:r>
          </a:p>
          <a:p>
            <a:pPr fontAlgn="base">
              <a:lnSpc>
                <a:spcPct val="170000"/>
              </a:lnSpc>
            </a:pPr>
            <a:r>
              <a:rPr lang="en-US" sz="4000" i="1" dirty="0">
                <a:latin typeface="Segoe UI" panose="020B0502040204020203" pitchFamily="34" charset="0"/>
                <a:cs typeface="Segoe UI" panose="020B0502040204020203" pitchFamily="34" charset="0"/>
              </a:rPr>
              <a:t>title: The title or name of the album.</a:t>
            </a:r>
          </a:p>
          <a:p>
            <a:pPr fontAlgn="base">
              <a:lnSpc>
                <a:spcPct val="170000"/>
              </a:lnSpc>
            </a:pPr>
            <a:r>
              <a:rPr lang="en-US" sz="40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artist_id</a:t>
            </a:r>
            <a:r>
              <a:rPr lang="en-US" sz="4000" i="1" dirty="0">
                <a:latin typeface="Segoe UI" panose="020B0502040204020203" pitchFamily="34" charset="0"/>
                <a:cs typeface="Segoe UI" panose="020B0502040204020203" pitchFamily="34" charset="0"/>
              </a:rPr>
              <a:t>: The ID of the artist associated with the album.</a:t>
            </a:r>
          </a:p>
          <a:p>
            <a:pPr marL="0" indent="0" algn="ctr" fontAlgn="base">
              <a:lnSpc>
                <a:spcPct val="110000"/>
              </a:lnSpc>
              <a:buNone/>
            </a:pPr>
            <a:r>
              <a:rPr lang="en-IN" sz="6000" b="1" i="1" u="sng" dirty="0"/>
              <a:t>artist</a:t>
            </a:r>
            <a:endParaRPr lang="en-US" sz="6000" b="1" i="1" u="sng" dirty="0"/>
          </a:p>
          <a:p>
            <a:pPr fontAlgn="base">
              <a:lnSpc>
                <a:spcPct val="170000"/>
              </a:lnSpc>
            </a:pPr>
            <a:r>
              <a:rPr lang="en-US" sz="40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artist_id</a:t>
            </a:r>
            <a:r>
              <a:rPr lang="en-US" sz="4000" i="1" dirty="0">
                <a:latin typeface="Segoe UI" panose="020B0502040204020203" pitchFamily="34" charset="0"/>
                <a:cs typeface="Segoe UI" panose="020B0502040204020203" pitchFamily="34" charset="0"/>
              </a:rPr>
              <a:t>: Unique identifier assigned to each artist.</a:t>
            </a:r>
          </a:p>
          <a:p>
            <a:pPr fontAlgn="base">
              <a:lnSpc>
                <a:spcPct val="170000"/>
              </a:lnSpc>
            </a:pPr>
            <a:r>
              <a:rPr lang="en-US" sz="4000" i="1" dirty="0">
                <a:latin typeface="Segoe UI" panose="020B0502040204020203" pitchFamily="34" charset="0"/>
                <a:cs typeface="Segoe UI" panose="020B0502040204020203" pitchFamily="34" charset="0"/>
              </a:rPr>
              <a:t>name: The name of the artist.</a:t>
            </a:r>
          </a:p>
          <a:p>
            <a:pPr marL="0" indent="0" fontAlgn="base">
              <a:lnSpc>
                <a:spcPct val="170000"/>
              </a:lnSpc>
              <a:buNone/>
            </a:pPr>
            <a:endParaRPr lang="en-US" sz="44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006D4-11DF-422F-80C4-C8F336EF6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285876"/>
            <a:ext cx="5183188" cy="566737"/>
          </a:xfrm>
          <a:ln>
            <a:noFill/>
          </a:ln>
        </p:spPr>
        <p:txBody>
          <a:bodyPr/>
          <a:lstStyle/>
          <a:p>
            <a:pPr algn="ctr"/>
            <a:r>
              <a:rPr lang="en-IN" sz="1800" i="1" u="sng" dirty="0" err="1">
                <a:solidFill>
                  <a:srgbClr val="000000"/>
                </a:solidFill>
                <a:latin typeface="Arial" panose="020B0604020202020204" pitchFamily="34" charset="0"/>
              </a:rPr>
              <a:t>media_type</a:t>
            </a:r>
            <a:endParaRPr lang="en-IN" u="sn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BFC053-A585-4DAE-BFA8-14B11A0AE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9374" y="1852614"/>
            <a:ext cx="5286375" cy="4471986"/>
          </a:xfrm>
        </p:spPr>
        <p:txBody>
          <a:bodyPr>
            <a:normAutofit fontScale="40000" lnSpcReduction="20000"/>
          </a:bodyPr>
          <a:lstStyle/>
          <a:p>
            <a:pPr fontAlgn="base">
              <a:lnSpc>
                <a:spcPct val="170000"/>
              </a:lnSpc>
            </a:pPr>
            <a:endParaRPr lang="en-US" sz="43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base">
              <a:lnSpc>
                <a:spcPct val="170000"/>
              </a:lnSpc>
              <a:spcAft>
                <a:spcPts val="0"/>
              </a:spcAft>
            </a:pPr>
            <a:r>
              <a:rPr lang="en-US" sz="40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media_type_id</a:t>
            </a:r>
            <a:r>
              <a:rPr lang="en-US" sz="4000" i="1" dirty="0">
                <a:latin typeface="Segoe UI" panose="020B0502040204020203" pitchFamily="34" charset="0"/>
                <a:cs typeface="Segoe UI" panose="020B0502040204020203" pitchFamily="34" charset="0"/>
              </a:rPr>
              <a:t>: Unique identifier assigned to each media type.</a:t>
            </a:r>
          </a:p>
          <a:p>
            <a:pPr fontAlgn="base">
              <a:lnSpc>
                <a:spcPct val="170000"/>
              </a:lnSpc>
              <a:spcAft>
                <a:spcPts val="0"/>
              </a:spcAft>
            </a:pPr>
            <a:r>
              <a:rPr lang="en-US" sz="4000" i="1" dirty="0">
                <a:latin typeface="Segoe UI" panose="020B0502040204020203" pitchFamily="34" charset="0"/>
                <a:cs typeface="Segoe UI" panose="020B0502040204020203" pitchFamily="34" charset="0"/>
              </a:rPr>
              <a:t>name: The name or description of the media type (e.g., MPEG audio file, AAC audio file). </a:t>
            </a:r>
          </a:p>
          <a:p>
            <a:pPr marL="0" indent="0" algn="ctr" fontAlgn="base">
              <a:lnSpc>
                <a:spcPct val="110000"/>
              </a:lnSpc>
              <a:spcAft>
                <a:spcPts val="0"/>
              </a:spcAft>
              <a:buNone/>
            </a:pPr>
            <a:r>
              <a:rPr lang="en-IN" sz="4500" b="1" i="1" u="sng" dirty="0">
                <a:solidFill>
                  <a:srgbClr val="000000"/>
                </a:solidFill>
                <a:latin typeface="Arial" panose="020B0604020202020204" pitchFamily="34" charset="0"/>
              </a:rPr>
              <a:t>Genres </a:t>
            </a:r>
          </a:p>
          <a:p>
            <a:pPr fontAlgn="base">
              <a:lnSpc>
                <a:spcPct val="170000"/>
              </a:lnSpc>
            </a:pPr>
            <a:r>
              <a:rPr lang="en-US" sz="40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genre_id</a:t>
            </a:r>
            <a:r>
              <a:rPr lang="en-US" sz="4000" i="1" dirty="0">
                <a:latin typeface="Segoe UI" panose="020B0502040204020203" pitchFamily="34" charset="0"/>
                <a:cs typeface="Segoe UI" panose="020B0502040204020203" pitchFamily="34" charset="0"/>
              </a:rPr>
              <a:t>: Unique identifier assigned to each genre.</a:t>
            </a:r>
          </a:p>
          <a:p>
            <a:pPr fontAlgn="base">
              <a:lnSpc>
                <a:spcPct val="170000"/>
              </a:lnSpc>
            </a:pPr>
            <a:r>
              <a:rPr lang="en-US" sz="4000" i="1" dirty="0">
                <a:latin typeface="Segoe UI" panose="020B0502040204020203" pitchFamily="34" charset="0"/>
                <a:cs typeface="Segoe UI" panose="020B0502040204020203" pitchFamily="34" charset="0"/>
              </a:rPr>
              <a:t>name: The name or description of the genre (e.g., rock, pop, classical).</a:t>
            </a:r>
          </a:p>
          <a:p>
            <a:pPr marL="0" indent="0" algn="ctr">
              <a:lnSpc>
                <a:spcPct val="110000"/>
              </a:lnSpc>
              <a:buNone/>
            </a:pPr>
            <a:endParaRPr lang="en-IN" sz="5500" b="1" i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2" descr="Book ">
            <a:extLst>
              <a:ext uri="{FF2B5EF4-FFF2-40B4-BE49-F238E27FC236}">
                <a16:creationId xmlns:a16="http://schemas.microsoft.com/office/drawing/2014/main" id="{4A4AA93A-2EC6-402B-A719-23AAE2240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2" y="406001"/>
            <a:ext cx="809627" cy="809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4738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C04B-3C43-4530-BC36-55C52E07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73447"/>
            <a:ext cx="10515600" cy="788590"/>
          </a:xfrm>
        </p:spPr>
        <p:txBody>
          <a:bodyPr/>
          <a:lstStyle/>
          <a:p>
            <a:pPr algn="ctr"/>
            <a:r>
              <a:rPr lang="en-IN" sz="4800" b="1" i="1" dirty="0"/>
              <a:t>     </a:t>
            </a:r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Database</a:t>
            </a:r>
            <a:r>
              <a:rPr lang="en-IN" sz="4800" b="1" i="1" dirty="0">
                <a:latin typeface="Segoe UI" panose="020B0502040204020203" pitchFamily="34" charset="0"/>
                <a:cs typeface="Segoe UI" panose="020B0502040204020203" pitchFamily="34" charset="0"/>
              </a:rPr>
              <a:t>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59D03-BFC7-47D9-A36F-F26F5A23F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4100" name="Picture 4" descr="Sql ">
            <a:extLst>
              <a:ext uri="{FF2B5EF4-FFF2-40B4-BE49-F238E27FC236}">
                <a16:creationId xmlns:a16="http://schemas.microsoft.com/office/drawing/2014/main" id="{534E40AC-65E5-4DA8-A40B-88D0B133B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83752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A71E6741-689B-4EB6-8011-B2560CFB5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81075"/>
            <a:ext cx="10934699" cy="560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149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71E2-5A5D-4ABA-B631-6BF219B5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44600"/>
          </a:xfrm>
        </p:spPr>
        <p:txBody>
          <a:bodyPr>
            <a:normAutofit/>
          </a:bodyPr>
          <a:lstStyle/>
          <a:p>
            <a:pPr algn="ctr"/>
            <a:r>
              <a:rPr lang="en-US" sz="3600" b="1" i="1" dirty="0"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Description of analytical methods and tools used</a:t>
            </a:r>
            <a:endParaRPr lang="en-IN" sz="3600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AEFF8-EDE9-4505-B31E-18642C44D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9726"/>
            <a:ext cx="10515600" cy="4567237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  <a:buClr>
                <a:schemeClr val="dk1"/>
              </a:buClr>
              <a:buSzPts val="2000"/>
              <a:buFont typeface="Wingdings" panose="05000000000000000000" pitchFamily="2" charset="2"/>
              <a:buChar char="ü"/>
            </a:pPr>
            <a:r>
              <a:rPr lang="en-US" sz="8000" b="1" i="1" dirty="0"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SQL Queries: </a:t>
            </a:r>
            <a:r>
              <a:rPr lang="en-US" sz="8000" i="1" dirty="0"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Used to extract, filter, and analyze customer purchases, sales trends, and revenue insights from the Chinook database.</a:t>
            </a:r>
          </a:p>
          <a:p>
            <a:pPr>
              <a:lnSpc>
                <a:spcPct val="170000"/>
              </a:lnSpc>
              <a:buClr>
                <a:schemeClr val="dk1"/>
              </a:buClr>
              <a:buSzPts val="2000"/>
              <a:buFont typeface="Wingdings" panose="05000000000000000000" pitchFamily="2" charset="2"/>
              <a:buChar char="ü"/>
            </a:pPr>
            <a:r>
              <a:rPr lang="en-US" sz="8000" b="1" i="1" dirty="0"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Descriptive Statistics : </a:t>
            </a:r>
            <a:r>
              <a:rPr lang="en-US" sz="8000" i="1" dirty="0"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Measured total sales, average order value, and purchase frequency.</a:t>
            </a:r>
          </a:p>
          <a:p>
            <a:pPr>
              <a:lnSpc>
                <a:spcPct val="170000"/>
              </a:lnSpc>
              <a:buClr>
                <a:schemeClr val="dk1"/>
              </a:buClr>
              <a:buSzPts val="2000"/>
              <a:buFont typeface="Wingdings" panose="05000000000000000000" pitchFamily="2" charset="2"/>
              <a:buChar char="ü"/>
            </a:pPr>
            <a:r>
              <a:rPr lang="en-US" sz="8000" b="1" i="1" dirty="0"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Data Visualization (Excel) : </a:t>
            </a:r>
            <a:r>
              <a:rPr lang="en-US" sz="8000" i="1" dirty="0"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Created charts for sales trends, top customers, and genre performance.</a:t>
            </a:r>
            <a:endParaRPr lang="en-US" sz="9600" i="1" dirty="0"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  <a:p>
            <a:pPr>
              <a:lnSpc>
                <a:spcPct val="170000"/>
              </a:lnSpc>
              <a:buClr>
                <a:schemeClr val="dk1"/>
              </a:buClr>
              <a:buSzPts val="2000"/>
              <a:buFont typeface="Wingdings" panose="05000000000000000000" pitchFamily="2" charset="2"/>
              <a:buChar char="ü"/>
            </a:pPr>
            <a:r>
              <a:rPr lang="en-US" sz="8000" b="1" i="1" dirty="0"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Customer Segmentation: </a:t>
            </a:r>
            <a:r>
              <a:rPr lang="en-US" sz="8000" i="1" dirty="0"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Compared long-term vs. new customer behavior.</a:t>
            </a:r>
          </a:p>
          <a:p>
            <a:pPr>
              <a:lnSpc>
                <a:spcPct val="170000"/>
              </a:lnSpc>
              <a:buClr>
                <a:schemeClr val="dk1"/>
              </a:buClr>
              <a:buSzPts val="2000"/>
              <a:buFont typeface="Wingdings" panose="05000000000000000000" pitchFamily="2" charset="2"/>
              <a:buChar char="ü"/>
            </a:pPr>
            <a:r>
              <a:rPr lang="en-US" sz="8000" b="1" i="1" dirty="0"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Trend Analysis:</a:t>
            </a:r>
            <a:r>
              <a:rPr lang="en-US" sz="8000" i="1" dirty="0"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 Identified seasonal sales patterns and high-demand genres.</a:t>
            </a:r>
          </a:p>
          <a:p>
            <a:pPr>
              <a:lnSpc>
                <a:spcPct val="170000"/>
              </a:lnSpc>
              <a:buClr>
                <a:schemeClr val="dk1"/>
              </a:buClr>
              <a:buSzPts val="2000"/>
              <a:buFont typeface="Wingdings" panose="05000000000000000000" pitchFamily="2" charset="2"/>
              <a:buChar char="ü"/>
            </a:pPr>
            <a:r>
              <a:rPr lang="en-US" sz="8000" b="1" i="1" dirty="0"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Revenue Analysis: </a:t>
            </a:r>
            <a:r>
              <a:rPr lang="en-US" sz="8000" i="1" dirty="0"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Found top revenue-generating customers and best-selling tracks.</a:t>
            </a:r>
            <a:endParaRPr lang="en-US" sz="80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70000"/>
              </a:lnSpc>
              <a:buClr>
                <a:schemeClr val="dk1"/>
              </a:buClr>
              <a:buSzPts val="2000"/>
              <a:buNone/>
            </a:pPr>
            <a:endParaRPr lang="en-IN" sz="4800" b="1" i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04410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0B89-0E89-4B01-83C1-74C2AF0E9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Top Genres by Sales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A6959-5247-4E42-8853-37FA44404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1825625"/>
            <a:ext cx="721042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Rock is the most popular genre in the USA based on top tracks and top artist</a:t>
            </a:r>
          </a:p>
          <a:p>
            <a:pPr>
              <a:lnSpc>
                <a:spcPct val="15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Van Halen dominates the USA market with strong fanbase and high sales</a:t>
            </a:r>
          </a:p>
          <a:p>
            <a:pPr>
              <a:lnSpc>
                <a:spcPct val="15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Rock appears twice in the top 5 tracks, proving its popularity</a:t>
            </a:r>
          </a:p>
          <a:p>
            <a:pPr>
              <a:lnSpc>
                <a:spcPct val="15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Rock-based genres make up 4 of 5 top tracks (Rock, Metal, Alternative)</a:t>
            </a:r>
          </a:p>
          <a:p>
            <a:pPr>
              <a:lnSpc>
                <a:spcPct val="15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Market is diverse - R&amp;B/Soul also present, showing varied listener preferences</a:t>
            </a:r>
            <a:endParaRPr lang="en-IN" sz="1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A9570B8-8676-4B6F-A2AC-5C8324BE22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9586762"/>
              </p:ext>
            </p:extLst>
          </p:nvPr>
        </p:nvGraphicFramePr>
        <p:xfrm>
          <a:off x="7524750" y="2133600"/>
          <a:ext cx="432435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C9E77AAE-6DFA-4C20-AF26-C2081F041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426" y="581025"/>
            <a:ext cx="821532" cy="82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39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7A7D9-2FC3-485C-B89F-49B96CA2D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    Customers by Country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0B40D-4B5B-438C-B6DF-EAEE7EFA1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825625"/>
            <a:ext cx="6939915" cy="4351338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USA is the primary market - 13 customers (22.03% of total)</a:t>
            </a:r>
            <a:endParaRPr lang="en-US" sz="23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Canada is second-largest - 8 customers (13.56% of total)</a:t>
            </a:r>
          </a:p>
          <a:p>
            <a:pPr>
              <a:lnSpc>
                <a:spcPct val="17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Brazil and France tie - 5 customers each (8.47% each) as key secondary markets</a:t>
            </a:r>
          </a:p>
          <a:p>
            <a:pPr>
              <a:lnSpc>
                <a:spcPct val="17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Top 5 countries account for 59% of all customers (USA, Canada, Brazil, France, Germany)</a:t>
            </a:r>
          </a:p>
          <a:p>
            <a:pPr>
              <a:lnSpc>
                <a:spcPct val="17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Age and gender data not available - only location-based demographics possible</a:t>
            </a:r>
            <a:endParaRPr lang="en-IN" sz="1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8A78FF5-16D1-4848-A32D-DBFE157E79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901678"/>
              </p:ext>
            </p:extLst>
          </p:nvPr>
        </p:nvGraphicFramePr>
        <p:xfrm>
          <a:off x="7530465" y="2190750"/>
          <a:ext cx="4661535" cy="3181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1EE6872-21C1-4AC3-AD0A-603F2888C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0" y="365125"/>
            <a:ext cx="94297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51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9CC8-557C-4955-9018-8843A0A39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     </a:t>
            </a:r>
            <a:r>
              <a:rPr lang="en-IN" sz="4000" b="1" i="1" dirty="0">
                <a:latin typeface="Segoe UI" panose="020B0502040204020203" pitchFamily="34" charset="0"/>
                <a:cs typeface="Segoe UI" panose="020B0502040204020203" pitchFamily="34" charset="0"/>
              </a:rPr>
              <a:t>Total Revenue by Country </a:t>
            </a:r>
            <a:endParaRPr lang="en-IN" b="1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BAB2B-B6E7-4A23-91EA-B8411EDF2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26" y="1825625"/>
            <a:ext cx="6776084" cy="43275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Prague leads globally - highest revenue ($273.24) and most invoices (30)</a:t>
            </a:r>
          </a:p>
          <a:p>
            <a:pPr>
              <a:lnSpc>
                <a:spcPct val="15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USA has widest spread - 12+ cities generating revenue, led by Mountain View ($169.29)</a:t>
            </a:r>
          </a:p>
          <a:p>
            <a:pPr>
              <a:lnSpc>
                <a:spcPct val="15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London ($166.32) and Berlin ($158.40) - top European markets after Prague</a:t>
            </a:r>
          </a:p>
          <a:p>
            <a:pPr>
              <a:lnSpc>
                <a:spcPct val="15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São Paulo leads Brazil - $129.69 in revenue from 22 invoices</a:t>
            </a:r>
          </a:p>
          <a:p>
            <a:pPr>
              <a:lnSpc>
                <a:spcPct val="15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India shows emerging potential - Delhi ($111.87) and Bangalore ($71.28) vs Australia's minimal presence ($81.18)</a:t>
            </a:r>
            <a:endParaRPr lang="en-IN" sz="1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C2CF14E-A26A-4A74-9855-7EDC6C3DCD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6197382"/>
              </p:ext>
            </p:extLst>
          </p:nvPr>
        </p:nvGraphicFramePr>
        <p:xfrm>
          <a:off x="7128510" y="2236470"/>
          <a:ext cx="4911090" cy="3280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128" name="Picture 8" descr="Financial statement">
            <a:extLst>
              <a:ext uri="{FF2B5EF4-FFF2-40B4-BE49-F238E27FC236}">
                <a16:creationId xmlns:a16="http://schemas.microsoft.com/office/drawing/2014/main" id="{3D8EA848-8EE7-4626-815A-05CA19653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6" y="318294"/>
            <a:ext cx="1047750" cy="1024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9303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FCA6F-FA04-4DB3-B743-FA2E5071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 Genre Sales % in USA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5C559-2EFC-45BC-98F8-984606DF9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825625"/>
            <a:ext cx="7219950" cy="435133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Rock dominates with 53.38% - more than all other genres combined</a:t>
            </a:r>
          </a:p>
          <a:p>
            <a:pPr>
              <a:lnSpc>
                <a:spcPct val="16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Top 3 genres (Rock, Alternative &amp; Punk, Metal) - account for 77.55% of total sales</a:t>
            </a:r>
          </a:p>
          <a:p>
            <a:pPr>
              <a:lnSpc>
                <a:spcPct val="16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Sharp drop after #3 - R&amp;B/Soul falls to just 5.04%</a:t>
            </a:r>
          </a:p>
          <a:p>
            <a:pPr>
              <a:lnSpc>
                <a:spcPct val="16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14 genres have less than 5% market share - including Pop at only 2.09%</a:t>
            </a:r>
          </a:p>
          <a:p>
            <a:pPr>
              <a:lnSpc>
                <a:spcPct val="16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Possible data issue - Metal (11.80%) and Heavy Metal (0.29%) listed separately</a:t>
            </a:r>
            <a:endParaRPr lang="en-IN" sz="1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053D086-1898-4A4E-ADC9-C5A92DD8BB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1465508"/>
              </p:ext>
            </p:extLst>
          </p:nvPr>
        </p:nvGraphicFramePr>
        <p:xfrm>
          <a:off x="7324724" y="2324099"/>
          <a:ext cx="4772025" cy="3057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148" name="Picture 4" descr="Revenue ">
            <a:extLst>
              <a:ext uri="{FF2B5EF4-FFF2-40B4-BE49-F238E27FC236}">
                <a16:creationId xmlns:a16="http://schemas.microsoft.com/office/drawing/2014/main" id="{306BEEA5-8F68-49D7-902F-FF8B342BE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393700"/>
            <a:ext cx="9906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8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E1A6-76DD-4FBC-BD15-616B68AA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Total Sales by Artist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50C12-8680-498B-9194-A118C4574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6" y="1825625"/>
            <a:ext cx="7248524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7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Van Halen is #1 - highest sales at 42.57, leading by ~5 points over #2</a:t>
            </a:r>
          </a:p>
          <a:p>
            <a:pPr>
              <a:lnSpc>
                <a:spcPct val="17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Tight competition among top 5 - all within 9 points of each other (33.66 to 42.57)</a:t>
            </a:r>
          </a:p>
          <a:p>
            <a:pPr>
              <a:lnSpc>
                <a:spcPct val="17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90s rock dominates - Nirvana, Foo Fighters, and R.E.M. hold 3 of top 5 spots</a:t>
            </a:r>
          </a:p>
          <a:p>
            <a:pPr>
              <a:lnSpc>
                <a:spcPct val="17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Classic rock legends - Van Halen and Rolling Stones represent 70s-80s era</a:t>
            </a:r>
          </a:p>
          <a:p>
            <a:pPr>
              <a:lnSpc>
                <a:spcPct val="170000"/>
              </a:lnSpc>
            </a:pPr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100% rock in top 5 - confirms rock's dominance with no non-rock artists</a:t>
            </a:r>
            <a:endParaRPr lang="en-IN" sz="1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24D9A99-0F84-4760-8E0A-7E40440C44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222322"/>
              </p:ext>
            </p:extLst>
          </p:nvPr>
        </p:nvGraphicFramePr>
        <p:xfrm>
          <a:off x="7620000" y="23241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172" name="Picture 4" descr="Guitar ">
            <a:extLst>
              <a:ext uri="{FF2B5EF4-FFF2-40B4-BE49-F238E27FC236}">
                <a16:creationId xmlns:a16="http://schemas.microsoft.com/office/drawing/2014/main" id="{843442CC-6BC5-4BC8-A35A-0022BD085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429419"/>
            <a:ext cx="923925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745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3C9B-99A3-46E5-A40A-C927F806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i="1" dirty="0"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  <a:br>
              <a:rPr lang="en-IN" sz="4000" b="1" i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4000" b="1" i="1" dirty="0">
                <a:latin typeface="Segoe UI" panose="020B0502040204020203" pitchFamily="34" charset="0"/>
                <a:cs typeface="Segoe UI" panose="020B0502040204020203" pitchFamily="34" charset="0"/>
              </a:rPr>
              <a:t> Genre Sales Performance in the USA</a:t>
            </a:r>
            <a:br>
              <a:rPr lang="en-IN" i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92C54-1441-44E9-B5C3-17B6B0152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653540"/>
            <a:ext cx="6909435" cy="4394834"/>
          </a:xfrm>
        </p:spPr>
        <p:txBody>
          <a:bodyPr>
            <a:normAutofit/>
          </a:bodyPr>
          <a:lstStyle/>
          <a:p>
            <a:pPr>
              <a:lnSpc>
                <a:spcPct val="180000"/>
              </a:lnSpc>
            </a:pPr>
            <a:r>
              <a:rPr lang="en-IN" sz="1700" i="1" dirty="0">
                <a:latin typeface="Segoe UI" panose="020B0502040204020203" pitchFamily="34" charset="0"/>
                <a:cs typeface="Segoe UI" panose="020B0502040204020203" pitchFamily="34" charset="0"/>
              </a:rPr>
              <a:t>Rock ranks #1 - $555.39 in sales, dominating the USA market</a:t>
            </a:r>
          </a:p>
          <a:p>
            <a:pPr>
              <a:lnSpc>
                <a:spcPct val="180000"/>
              </a:lnSpc>
            </a:pPr>
            <a:r>
              <a:rPr lang="en-IN" sz="1700" i="1" dirty="0">
                <a:latin typeface="Segoe UI" panose="020B0502040204020203" pitchFamily="34" charset="0"/>
                <a:cs typeface="Segoe UI" panose="020B0502040204020203" pitchFamily="34" charset="0"/>
              </a:rPr>
              <a:t>Alternative &amp; Punk ($128.70) and Metal ($122.76) - rank 2nd and 3rd</a:t>
            </a:r>
          </a:p>
          <a:p>
            <a:pPr>
              <a:lnSpc>
                <a:spcPct val="180000"/>
              </a:lnSpc>
            </a:pPr>
            <a:r>
              <a:rPr lang="en-IN" sz="1700" i="1" dirty="0">
                <a:latin typeface="Segoe UI" panose="020B0502040204020203" pitchFamily="34" charset="0"/>
                <a:cs typeface="Segoe UI" panose="020B0502040204020203" pitchFamily="34" charset="0"/>
              </a:rPr>
              <a:t>Top 3 genres account for ~85% - of total USA sales</a:t>
            </a:r>
          </a:p>
          <a:p>
            <a:pPr>
              <a:lnSpc>
                <a:spcPct val="180000"/>
              </a:lnSpc>
            </a:pPr>
            <a:r>
              <a:rPr lang="en-IN" sz="1700" i="1" dirty="0">
                <a:latin typeface="Segoe UI" panose="020B0502040204020203" pitchFamily="34" charset="0"/>
                <a:cs typeface="Segoe UI" panose="020B0502040204020203" pitchFamily="34" charset="0"/>
              </a:rPr>
              <a:t>Pop and Latin tied at #7 - $21.78 each</a:t>
            </a:r>
          </a:p>
          <a:p>
            <a:pPr>
              <a:lnSpc>
                <a:spcPct val="180000"/>
              </a:lnSpc>
            </a:pPr>
            <a:r>
              <a:rPr lang="en-IN" sz="1700" i="1" dirty="0">
                <a:latin typeface="Segoe UI" panose="020B0502040204020203" pitchFamily="34" charset="0"/>
                <a:cs typeface="Segoe UI" panose="020B0502040204020203" pitchFamily="34" charset="0"/>
              </a:rPr>
              <a:t>TV Shows ranks last - only $0.99 in sales</a:t>
            </a:r>
          </a:p>
          <a:p>
            <a:pPr>
              <a:lnSpc>
                <a:spcPct val="180000"/>
              </a:lnSpc>
            </a:pPr>
            <a:r>
              <a:rPr lang="en-IN" sz="1700" i="1" dirty="0">
                <a:latin typeface="Segoe UI" panose="020B0502040204020203" pitchFamily="34" charset="0"/>
                <a:cs typeface="Segoe UI" panose="020B0502040204020203" pitchFamily="34" charset="0"/>
              </a:rPr>
              <a:t>Genre classification overlap - Alternative vs Alternative &amp; Punk, Metal vs Heavy Metal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26C140C-FB52-4896-BDEF-059B736676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4631669"/>
              </p:ext>
            </p:extLst>
          </p:nvPr>
        </p:nvGraphicFramePr>
        <p:xfrm>
          <a:off x="7309485" y="2320290"/>
          <a:ext cx="4812030" cy="2884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198" name="Picture 6" descr="Music">
            <a:extLst>
              <a:ext uri="{FF2B5EF4-FFF2-40B4-BE49-F238E27FC236}">
                <a16:creationId xmlns:a16="http://schemas.microsoft.com/office/drawing/2014/main" id="{A10E7387-577D-4522-93D0-CFDA9A328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365125"/>
            <a:ext cx="904875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969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8AAB3-D78B-4660-B1D0-EAB400FA9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6" y="1825625"/>
            <a:ext cx="6915150" cy="4351338"/>
          </a:xfrm>
        </p:spPr>
        <p:txBody>
          <a:bodyPr>
            <a:normAutofit/>
          </a:bodyPr>
          <a:lstStyle/>
          <a:p>
            <a:pPr>
              <a:lnSpc>
                <a:spcPct val="190000"/>
              </a:lnSpc>
            </a:pPr>
            <a:r>
              <a:rPr lang="en-US" sz="1700" i="1" dirty="0">
                <a:latin typeface="Segoe UI" panose="020B0502040204020203" pitchFamily="34" charset="0"/>
                <a:cs typeface="Segoe UI" panose="020B0502040204020203" pitchFamily="34" charset="0"/>
              </a:rPr>
              <a:t>Rock is top in 22 of 23 countries - global dominance outside USA</a:t>
            </a:r>
          </a:p>
          <a:p>
            <a:pPr>
              <a:lnSpc>
                <a:spcPct val="190000"/>
              </a:lnSpc>
            </a:pPr>
            <a:r>
              <a:rPr lang="en-US" sz="1700" i="1" dirty="0">
                <a:latin typeface="Segoe UI" panose="020B0502040204020203" pitchFamily="34" charset="0"/>
                <a:cs typeface="Segoe UI" panose="020B0502040204020203" pitchFamily="34" charset="0"/>
              </a:rPr>
              <a:t>Canada leads Rock sales - $329.67, nearly double France ($208.89)</a:t>
            </a:r>
          </a:p>
          <a:p>
            <a:pPr>
              <a:lnSpc>
                <a:spcPct val="190000"/>
              </a:lnSpc>
            </a:pPr>
            <a:r>
              <a:rPr lang="en-US" sz="1700" i="1" dirty="0">
                <a:latin typeface="Segoe UI" panose="020B0502040204020203" pitchFamily="34" charset="0"/>
                <a:cs typeface="Segoe UI" panose="020B0502040204020203" pitchFamily="34" charset="0"/>
              </a:rPr>
              <a:t>Argentina is the only exception - Alternative &amp; Punk ranks #1 ($16.83)</a:t>
            </a:r>
          </a:p>
          <a:p>
            <a:pPr>
              <a:lnSpc>
                <a:spcPct val="190000"/>
              </a:lnSpc>
            </a:pPr>
            <a:r>
              <a:rPr lang="en-US" sz="1700" i="1" dirty="0">
                <a:latin typeface="Segoe UI" panose="020B0502040204020203" pitchFamily="34" charset="0"/>
                <a:cs typeface="Segoe UI" panose="020B0502040204020203" pitchFamily="34" charset="0"/>
              </a:rPr>
              <a:t>India shows strong Rock preference - $100.98 as top genre</a:t>
            </a:r>
          </a:p>
          <a:p>
            <a:pPr>
              <a:lnSpc>
                <a:spcPct val="190000"/>
              </a:lnSpc>
            </a:pPr>
            <a:r>
              <a:rPr lang="en-US" sz="1700" i="1" dirty="0">
                <a:latin typeface="Segoe UI" panose="020B0502040204020203" pitchFamily="34" charset="0"/>
                <a:cs typeface="Segoe UI" panose="020B0502040204020203" pitchFamily="34" charset="0"/>
              </a:rPr>
              <a:t>Australia has lower Rock sales - $33.66 compared to other Western countries</a:t>
            </a:r>
            <a:endParaRPr lang="en-IN" sz="17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209500E-C4EA-4FD1-BCCA-672670FA14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6698025"/>
              </p:ext>
            </p:extLst>
          </p:nvPr>
        </p:nvGraphicFramePr>
        <p:xfrm>
          <a:off x="7620000" y="2438400"/>
          <a:ext cx="43910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EB01A08D-B075-4843-AAF2-9711ACD6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2025"/>
          </a:xfrm>
        </p:spPr>
        <p:txBody>
          <a:bodyPr>
            <a:normAutofit fontScale="90000"/>
          </a:bodyPr>
          <a:lstStyle/>
          <a:p>
            <a:pPr algn="ctr"/>
            <a:br>
              <a:rPr lang="en-US" i="1" dirty="0"/>
            </a:br>
            <a:r>
              <a:rPr lang="en-US" i="1" dirty="0"/>
              <a:t>      </a:t>
            </a:r>
            <a:r>
              <a:rPr lang="en-US" sz="4900" b="1" i="1" dirty="0">
                <a:latin typeface="Segoe UI" panose="020B0502040204020203" pitchFamily="34" charset="0"/>
                <a:cs typeface="Segoe UI" panose="020B0502040204020203" pitchFamily="34" charset="0"/>
              </a:rPr>
              <a:t>Top 3 Albums by Sales</a:t>
            </a:r>
            <a:br>
              <a:rPr lang="en-US" i="1" dirty="0"/>
            </a:br>
            <a:endParaRPr lang="en-IN" dirty="0"/>
          </a:p>
        </p:txBody>
      </p:sp>
      <p:pic>
        <p:nvPicPr>
          <p:cNvPr id="14" name="Picture 6" descr="Remix">
            <a:extLst>
              <a:ext uri="{FF2B5EF4-FFF2-40B4-BE49-F238E27FC236}">
                <a16:creationId xmlns:a16="http://schemas.microsoft.com/office/drawing/2014/main" id="{5670F885-70B6-4367-82B6-83B8FA158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725" y="365125"/>
            <a:ext cx="962025" cy="96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502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A356-764C-44E8-9383-DC032901D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65127"/>
            <a:ext cx="10677525" cy="1120773"/>
          </a:xfrm>
        </p:spPr>
        <p:txBody>
          <a:bodyPr>
            <a:normAutofit fontScale="90000"/>
          </a:bodyPr>
          <a:lstStyle/>
          <a:p>
            <a:pPr algn="r"/>
            <a:r>
              <a:rPr lang="en-IN" b="1" dirty="0"/>
              <a:t>      </a:t>
            </a:r>
            <a:br>
              <a:rPr lang="en-IN" b="1" dirty="0"/>
            </a:br>
            <a:r>
              <a:rPr lang="en-IN" sz="4000" b="1" i="1" dirty="0">
                <a:latin typeface="Segoe UI" panose="020B0502040204020203" pitchFamily="34" charset="0"/>
                <a:cs typeface="Segoe UI" panose="020B0502040204020203" pitchFamily="34" charset="0"/>
              </a:rPr>
              <a:t>Regional Market Analysis</a:t>
            </a:r>
            <a:r>
              <a:rPr lang="en-IN" sz="3600" b="1" dirty="0"/>
              <a:t>: </a:t>
            </a:r>
            <a:r>
              <a:rPr lang="en-IN" sz="4000" b="1" i="1" dirty="0">
                <a:latin typeface="Segoe UI" panose="020B0502040204020203" pitchFamily="34" charset="0"/>
                <a:cs typeface="Segoe UI" panose="020B0502040204020203" pitchFamily="34" charset="0"/>
              </a:rPr>
              <a:t>Churn Rate by Country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09866-0382-4B1C-ACD8-FCA400450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533523"/>
            <a:ext cx="6610350" cy="4911726"/>
          </a:xfrm>
        </p:spPr>
        <p:txBody>
          <a:bodyPr>
            <a:noAutofit/>
          </a:bodyPr>
          <a:lstStyle/>
          <a:p>
            <a:pPr>
              <a:lnSpc>
                <a:spcPct val="190000"/>
              </a:lnSpc>
            </a:pPr>
            <a:r>
              <a:rPr lang="en-US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Germany - 50% churn (2 of 4 customers churned)</a:t>
            </a:r>
          </a:p>
          <a:p>
            <a:pPr>
              <a:lnSpc>
                <a:spcPct val="190000"/>
              </a:lnSpc>
            </a:pPr>
            <a:r>
              <a:rPr lang="en-US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France &amp; Brazil - 40% churn (2 of 5 customers churned)</a:t>
            </a:r>
          </a:p>
          <a:p>
            <a:pPr>
              <a:lnSpc>
                <a:spcPct val="190000"/>
              </a:lnSpc>
            </a:pPr>
            <a:r>
              <a:rPr lang="en-US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USA - 15.38% churn (lowest among large markets, 2 of 13 churned)</a:t>
            </a:r>
          </a:p>
          <a:p>
            <a:pPr>
              <a:lnSpc>
                <a:spcPct val="190000"/>
              </a:lnSpc>
            </a:pPr>
            <a:r>
              <a:rPr lang="en-US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Canada - 12.50% churn (1 of 8 churned)</a:t>
            </a:r>
          </a:p>
          <a:p>
            <a:pPr>
              <a:lnSpc>
                <a:spcPct val="120000"/>
              </a:lnSpc>
            </a:pPr>
            <a:r>
              <a:rPr lang="en-US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0% churn countries - Poland, India, Portugal, Czech Republic, Ireland</a:t>
            </a:r>
          </a:p>
          <a:p>
            <a:pPr>
              <a:lnSpc>
                <a:spcPct val="190000"/>
              </a:lnSpc>
            </a:pPr>
            <a:r>
              <a:rPr lang="en-US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Highest avg spend with 0% churn - Czech Republic ($136.62), Ireland ($114.84)</a:t>
            </a:r>
          </a:p>
          <a:p>
            <a:pPr>
              <a:lnSpc>
                <a:spcPct val="190000"/>
              </a:lnSpc>
            </a:pPr>
            <a:r>
              <a:rPr lang="en-US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Lowest avg spend with 0% churn - Argentina ($39.60, only 1 customer)</a:t>
            </a:r>
          </a:p>
          <a:p>
            <a:pPr>
              <a:lnSpc>
                <a:spcPct val="190000"/>
              </a:lnSpc>
            </a:pPr>
            <a:r>
              <a:rPr lang="en-US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Single-customer countries most vulnerable - 6 of 8 show 100% churn</a:t>
            </a:r>
            <a:endParaRPr lang="en-IN" sz="16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6E38427-95E7-4634-AF1C-8073FAC727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218498"/>
              </p:ext>
            </p:extLst>
          </p:nvPr>
        </p:nvGraphicFramePr>
        <p:xfrm>
          <a:off x="6838950" y="2076450"/>
          <a:ext cx="5353050" cy="3639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242" name="Picture 2" descr="Analytics ">
            <a:extLst>
              <a:ext uri="{FF2B5EF4-FFF2-40B4-BE49-F238E27FC236}">
                <a16:creationId xmlns:a16="http://schemas.microsoft.com/office/drawing/2014/main" id="{C8122ED3-C257-4249-94F0-4D832F064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12750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058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ECD95-5C48-4E9A-BC8D-AEA62808B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27D1B-2986-4F4F-BA9D-ECAE96268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1" y="1504950"/>
            <a:ext cx="8220074" cy="4879975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220000"/>
              </a:lnSpc>
              <a:buNone/>
            </a:pPr>
            <a:r>
              <a:rPr lang="en-US" sz="5600" b="1" i="1" dirty="0">
                <a:latin typeface="Segoe UI" panose="020B0502040204020203" pitchFamily="34" charset="0"/>
                <a:cs typeface="Segoe UI" panose="020B0502040204020203" pitchFamily="34" charset="0"/>
              </a:rPr>
              <a:t>M</a:t>
            </a:r>
            <a:r>
              <a:rPr lang="en-US" sz="6400" b="1" i="1" dirty="0">
                <a:latin typeface="Segoe UI" panose="020B0502040204020203" pitchFamily="34" charset="0"/>
                <a:cs typeface="Segoe UI" panose="020B0502040204020203" pitchFamily="34" charset="0"/>
              </a:rPr>
              <a:t>arketing &amp; Promotion:</a:t>
            </a:r>
          </a:p>
          <a:p>
            <a:pPr>
              <a:lnSpc>
                <a:spcPct val="120000"/>
              </a:lnSpc>
            </a:pPr>
            <a:r>
              <a:rPr lang="en-US" sz="3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6400" i="1" dirty="0">
                <a:latin typeface="Segoe UI" panose="020B0502040204020203" pitchFamily="34" charset="0"/>
                <a:cs typeface="Segoe UI" panose="020B0502040204020203" pitchFamily="34" charset="0"/>
              </a:rPr>
              <a:t>Prioritize Rock genre in USA marketing - contributes 53% of total sales</a:t>
            </a:r>
          </a:p>
          <a:p>
            <a:pPr>
              <a:lnSpc>
                <a:spcPct val="120000"/>
              </a:lnSpc>
            </a:pPr>
            <a:r>
              <a:rPr lang="en-US" sz="6400" i="1" dirty="0">
                <a:latin typeface="Segoe UI" panose="020B0502040204020203" pitchFamily="34" charset="0"/>
                <a:cs typeface="Segoe UI" panose="020B0502040204020203" pitchFamily="34" charset="0"/>
              </a:rPr>
              <a:t> Promote top 3 albums: "Are You Experienced?", Nirvana live, "The Doors"</a:t>
            </a:r>
          </a:p>
          <a:p>
            <a:pPr>
              <a:lnSpc>
                <a:spcPct val="120000"/>
              </a:lnSpc>
            </a:pPr>
            <a:r>
              <a:rPr lang="en-US" sz="6400" i="1" dirty="0">
                <a:latin typeface="Segoe UI" panose="020B0502040204020203" pitchFamily="34" charset="0"/>
                <a:cs typeface="Segoe UI" panose="020B0502040204020203" pitchFamily="34" charset="0"/>
              </a:rPr>
              <a:t> Launch Alternative &amp; Punk campaigns specifically for Argentina market</a:t>
            </a:r>
          </a:p>
          <a:p>
            <a:pPr>
              <a:lnSpc>
                <a:spcPct val="120000"/>
              </a:lnSpc>
            </a:pPr>
            <a:r>
              <a:rPr lang="en-US" sz="6400" i="1" dirty="0">
                <a:latin typeface="Segoe UI" panose="020B0502040204020203" pitchFamily="34" charset="0"/>
                <a:cs typeface="Segoe UI" panose="020B0502040204020203" pitchFamily="34" charset="0"/>
              </a:rPr>
              <a:t>Bundle Rock with Metal tracks (most purchased together - 1,622 times)</a:t>
            </a:r>
          </a:p>
          <a:p>
            <a:pPr marL="0" indent="0">
              <a:buNone/>
            </a:pPr>
            <a:endParaRPr lang="en-US" sz="4900" dirty="0"/>
          </a:p>
          <a:p>
            <a:pPr marL="0" indent="0">
              <a:buNone/>
            </a:pPr>
            <a:endParaRPr lang="en-US" sz="4900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6400" b="1" i="1" dirty="0">
                <a:latin typeface="Segoe UI" panose="020B0502040204020203" pitchFamily="34" charset="0"/>
                <a:cs typeface="Segoe UI" panose="020B0502040204020203" pitchFamily="34" charset="0"/>
              </a:rPr>
              <a:t>Customer Retention:</a:t>
            </a:r>
          </a:p>
          <a:p>
            <a:pPr>
              <a:lnSpc>
                <a:spcPct val="120000"/>
              </a:lnSpc>
            </a:pPr>
            <a:r>
              <a:rPr lang="en-US" sz="6400" i="1" dirty="0">
                <a:latin typeface="Segoe UI" panose="020B0502040204020203" pitchFamily="34" charset="0"/>
                <a:cs typeface="Segoe UI" panose="020B0502040204020203" pitchFamily="34" charset="0"/>
              </a:rPr>
              <a:t>Set $100 spend or 13 purchases as VIP loyalty threshold</a:t>
            </a:r>
          </a:p>
          <a:p>
            <a:pPr>
              <a:lnSpc>
                <a:spcPct val="120000"/>
              </a:lnSpc>
            </a:pPr>
            <a:r>
              <a:rPr lang="en-US" sz="6400" i="1" dirty="0">
                <a:latin typeface="Segoe UI" panose="020B0502040204020203" pitchFamily="34" charset="0"/>
                <a:cs typeface="Segoe UI" panose="020B0502040204020203" pitchFamily="34" charset="0"/>
              </a:rPr>
              <a:t>Target $60-$99 LTV customers (highest churn risk zone) for retention</a:t>
            </a:r>
          </a:p>
          <a:p>
            <a:pPr>
              <a:lnSpc>
                <a:spcPct val="120000"/>
              </a:lnSpc>
            </a:pPr>
            <a:r>
              <a:rPr lang="en-US" sz="6400" i="1" dirty="0">
                <a:latin typeface="Segoe UI" panose="020B0502040204020203" pitchFamily="34" charset="0"/>
                <a:cs typeface="Segoe UI" panose="020B0502040204020203" pitchFamily="34" charset="0"/>
              </a:rPr>
              <a:t>Offer milestone rewards at 10th and 13th purchase</a:t>
            </a:r>
          </a:p>
          <a:p>
            <a:pPr>
              <a:lnSpc>
                <a:spcPct val="120000"/>
              </a:lnSpc>
            </a:pPr>
            <a:r>
              <a:rPr lang="en-US" sz="6400" i="1" dirty="0">
                <a:latin typeface="Segoe UI" panose="020B0502040204020203" pitchFamily="34" charset="0"/>
                <a:cs typeface="Segoe UI" panose="020B0502040204020203" pitchFamily="34" charset="0"/>
              </a:rPr>
              <a:t>Implement win-back campaigns for 16 churned customers (27% churn rate)</a:t>
            </a:r>
          </a:p>
          <a:p>
            <a:endParaRPr lang="en-IN" dirty="0"/>
          </a:p>
        </p:txBody>
      </p:sp>
      <p:pic>
        <p:nvPicPr>
          <p:cNvPr id="11266" name="Picture 2" descr="Checklist ">
            <a:extLst>
              <a:ext uri="{FF2B5EF4-FFF2-40B4-BE49-F238E27FC236}">
                <a16:creationId xmlns:a16="http://schemas.microsoft.com/office/drawing/2014/main" id="{A2A999C5-CD59-4557-9032-1521594EC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475" y="2143125"/>
            <a:ext cx="2838449" cy="283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Quality ">
            <a:extLst>
              <a:ext uri="{FF2B5EF4-FFF2-40B4-BE49-F238E27FC236}">
                <a16:creationId xmlns:a16="http://schemas.microsoft.com/office/drawing/2014/main" id="{9E210FF2-BF77-49A8-9E74-264DF70B8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50" y="473075"/>
            <a:ext cx="923925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973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6E42A-AB42-4C03-A0C3-2C00ABCB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Continued</a:t>
            </a:r>
            <a:r>
              <a:rPr lang="en-IN" dirty="0"/>
              <a:t>……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B43DA-3E58-45DD-82FC-F49C12394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25" y="1504951"/>
            <a:ext cx="8201026" cy="442912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300" b="1" i="1" dirty="0">
                <a:latin typeface="Segoe UI" panose="020B0502040204020203" pitchFamily="34" charset="0"/>
                <a:cs typeface="Segoe UI" panose="020B0502040204020203" pitchFamily="34" charset="0"/>
              </a:rPr>
              <a:t>Geographic Strategy:</a:t>
            </a:r>
          </a:p>
          <a:p>
            <a:pPr>
              <a:lnSpc>
                <a:spcPct val="120000"/>
              </a:lnSpc>
            </a:pPr>
            <a:r>
              <a:rPr lang="en-US" sz="1900" i="1" dirty="0">
                <a:latin typeface="Segoe UI" panose="020B0502040204020203" pitchFamily="34" charset="0"/>
                <a:cs typeface="Segoe UI" panose="020B0502040204020203" pitchFamily="34" charset="0"/>
              </a:rPr>
              <a:t>Focus retention on Germany (50% churn), France &amp; Brazil (40% churn)</a:t>
            </a:r>
          </a:p>
          <a:p>
            <a:pPr>
              <a:lnSpc>
                <a:spcPct val="120000"/>
              </a:lnSpc>
            </a:pPr>
            <a:r>
              <a:rPr lang="en-US" sz="1900" i="1" dirty="0">
                <a:latin typeface="Segoe UI" panose="020B0502040204020203" pitchFamily="34" charset="0"/>
                <a:cs typeface="Segoe UI" panose="020B0502040204020203" pitchFamily="34" charset="0"/>
              </a:rPr>
              <a:t>Study Czech Republic and Ireland (0% churn with $100+ avg spend) and replicate</a:t>
            </a:r>
          </a:p>
          <a:p>
            <a:pPr>
              <a:lnSpc>
                <a:spcPct val="120000"/>
              </a:lnSpc>
            </a:pPr>
            <a:r>
              <a:rPr lang="en-US" sz="1900" i="1" dirty="0">
                <a:latin typeface="Segoe UI" panose="020B0502040204020203" pitchFamily="34" charset="0"/>
                <a:cs typeface="Segoe UI" panose="020B0502040204020203" pitchFamily="34" charset="0"/>
              </a:rPr>
              <a:t>Convert single-customer countries through referral programs</a:t>
            </a:r>
          </a:p>
          <a:p>
            <a:pPr>
              <a:lnSpc>
                <a:spcPct val="120000"/>
              </a:lnSpc>
            </a:pPr>
            <a:r>
              <a:rPr lang="en-US" sz="1900" i="1" dirty="0">
                <a:latin typeface="Segoe UI" panose="020B0502040204020203" pitchFamily="34" charset="0"/>
                <a:cs typeface="Segoe UI" panose="020B0502040204020203" pitchFamily="34" charset="0"/>
              </a:rPr>
              <a:t>Expand Rock promotions in Australia and Netherlands (low sales regions)</a:t>
            </a:r>
          </a:p>
          <a:p>
            <a:endParaRPr lang="en-US" dirty="0"/>
          </a:p>
          <a:p>
            <a:r>
              <a:rPr lang="en-US" sz="2300" b="1" i="1" dirty="0">
                <a:latin typeface="Segoe UI" panose="020B0502040204020203" pitchFamily="34" charset="0"/>
                <a:cs typeface="Segoe UI" panose="020B0502040204020203" pitchFamily="34" charset="0"/>
              </a:rPr>
              <a:t>Product &amp; Cross-Selling:</a:t>
            </a:r>
          </a:p>
          <a:p>
            <a:pPr>
              <a:lnSpc>
                <a:spcPct val="120000"/>
              </a:lnSpc>
            </a:pPr>
            <a:r>
              <a:rPr lang="en-US" dirty="0"/>
              <a:t> </a:t>
            </a:r>
            <a:r>
              <a:rPr lang="en-US" sz="1900" i="1" dirty="0">
                <a:latin typeface="Segoe UI" panose="020B0502040204020203" pitchFamily="34" charset="0"/>
                <a:cs typeface="Segoe UI" panose="020B0502040204020203" pitchFamily="34" charset="0"/>
              </a:rPr>
              <a:t>Create "Rock &amp; Alternative" playlists for recommendations</a:t>
            </a:r>
          </a:p>
          <a:p>
            <a:pPr>
              <a:lnSpc>
                <a:spcPct val="120000"/>
              </a:lnSpc>
            </a:pPr>
            <a:r>
              <a:rPr lang="en-US" sz="1900" i="1" dirty="0">
                <a:latin typeface="Segoe UI" panose="020B0502040204020203" pitchFamily="34" charset="0"/>
                <a:cs typeface="Segoe UI" panose="020B0502040204020203" pitchFamily="34" charset="0"/>
              </a:rPr>
              <a:t> Recommend Green Day to Led Zeppelin fans, Foo Fighters to Green Day customers</a:t>
            </a:r>
          </a:p>
          <a:p>
            <a:pPr>
              <a:lnSpc>
                <a:spcPct val="120000"/>
              </a:lnSpc>
            </a:pPr>
            <a:r>
              <a:rPr lang="en-US" sz="1900" i="1" dirty="0">
                <a:latin typeface="Segoe UI" panose="020B0502040204020203" pitchFamily="34" charset="0"/>
                <a:cs typeface="Segoe UI" panose="020B0502040204020203" pitchFamily="34" charset="0"/>
              </a:rPr>
              <a:t> Bundle "Are You Experienced?" with "</a:t>
            </a:r>
            <a:r>
              <a:rPr lang="en-US" sz="19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Mezmerize</a:t>
            </a:r>
            <a:r>
              <a:rPr lang="en-US" sz="1900" i="1" dirty="0">
                <a:latin typeface="Segoe UI" panose="020B0502040204020203" pitchFamily="34" charset="0"/>
                <a:cs typeface="Segoe UI" panose="020B0502040204020203" pitchFamily="34" charset="0"/>
              </a:rPr>
              <a:t>" (most paired albums)</a:t>
            </a:r>
          </a:p>
          <a:p>
            <a:pPr>
              <a:lnSpc>
                <a:spcPct val="120000"/>
              </a:lnSpc>
            </a:pPr>
            <a:r>
              <a:rPr lang="en-US" sz="1900" i="1" dirty="0">
                <a:latin typeface="Segoe UI" panose="020B0502040204020203" pitchFamily="34" charset="0"/>
                <a:cs typeface="Segoe UI" panose="020B0502040204020203" pitchFamily="34" charset="0"/>
              </a:rPr>
              <a:t> Offer "Buy 2 albums, get 1 free" on frequently paired albums</a:t>
            </a:r>
          </a:p>
          <a:p>
            <a:endParaRPr lang="en-IN" dirty="0"/>
          </a:p>
        </p:txBody>
      </p:sp>
      <p:pic>
        <p:nvPicPr>
          <p:cNvPr id="13314" name="Picture 2" descr="Checklist ">
            <a:extLst>
              <a:ext uri="{FF2B5EF4-FFF2-40B4-BE49-F238E27FC236}">
                <a16:creationId xmlns:a16="http://schemas.microsoft.com/office/drawing/2014/main" id="{65DFFDF7-E014-4EB9-8F3E-C72F6A6ED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952" y="1855694"/>
            <a:ext cx="3225892" cy="3225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467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50006-D800-4D51-BE01-83B31CCE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1724"/>
          </a:xfrm>
        </p:spPr>
        <p:txBody>
          <a:bodyPr>
            <a:normAutofit/>
          </a:bodyPr>
          <a:lstStyle/>
          <a:p>
            <a:r>
              <a:rPr lang="en-IN" b="1" i="1" dirty="0">
                <a:latin typeface="Segoe UI" panose="020B0502040204020203" pitchFamily="34" charset="0"/>
                <a:cs typeface="Segoe UI" panose="020B0502040204020203" pitchFamily="34" charset="0"/>
              </a:rPr>
              <a:t>                       </a:t>
            </a:r>
            <a:r>
              <a:rPr lang="en-IN" sz="4800" b="1" i="1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  <a:r>
              <a:rPr lang="en-IN" sz="54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832BB-004E-456F-937C-BDF6888D3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3" y="1466849"/>
            <a:ext cx="8448675" cy="4857751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Rock dominates the USA market with 53% of sales and top artist Van Halen</a:t>
            </a:r>
          </a:p>
          <a:p>
            <a:pPr>
              <a:lnSpc>
                <a:spcPct val="17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Customer churn stands at 27% - 16 of 59 customers inactive in last 6 months</a:t>
            </a:r>
          </a:p>
          <a:p>
            <a:pPr>
              <a:lnSpc>
                <a:spcPct val="17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High-value customers never churn - those with $100+ spend or 13+ purchases have 0% churn</a:t>
            </a:r>
          </a:p>
          <a:p>
            <a:pPr>
              <a:lnSpc>
                <a:spcPct val="17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Top 3 albums for promotion are all classic Rock (Jimi Hendrix, Nirvana, The Doors)</a:t>
            </a:r>
          </a:p>
          <a:p>
            <a:pPr>
              <a:lnSpc>
                <a:spcPct val="17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Product affinity is strong - Rock paired with Metal (1,622 times) is most frequent combination</a:t>
            </a:r>
          </a:p>
          <a:p>
            <a:pPr>
              <a:lnSpc>
                <a:spcPct val="17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USA and Canada are primary markets with strongest customer retention</a:t>
            </a:r>
          </a:p>
          <a:p>
            <a:pPr>
              <a:lnSpc>
                <a:spcPct val="17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Czech Republic and Ireland show 0% churn with highest avg spend ($136 and $114)</a:t>
            </a:r>
          </a:p>
          <a:p>
            <a:pPr>
              <a:lnSpc>
                <a:spcPct val="17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Single-customer countries are most vulnerable to churn (6 of 8 show 100%)</a:t>
            </a:r>
          </a:p>
          <a:p>
            <a:pPr>
              <a:lnSpc>
                <a:spcPct val="170000"/>
              </a:lnSpc>
            </a:pP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Data limitations exist - no age, gender, or campaign tracking available</a:t>
            </a:r>
          </a:p>
          <a:p>
            <a:pPr>
              <a:lnSpc>
                <a:spcPct val="170000"/>
              </a:lnSpc>
            </a:pPr>
            <a:r>
              <a:rPr lang="en-US" sz="5600" i="1">
                <a:latin typeface="Segoe UI" panose="020B0502040204020203" pitchFamily="34" charset="0"/>
                <a:cs typeface="Segoe UI" panose="020B0502040204020203" pitchFamily="34" charset="0"/>
              </a:rPr>
              <a:t>Recommended </a:t>
            </a:r>
            <a:r>
              <a:rPr lang="en-US" sz="5600" i="1" dirty="0">
                <a:latin typeface="Segoe UI" panose="020B0502040204020203" pitchFamily="34" charset="0"/>
                <a:cs typeface="Segoe UI" panose="020B0502040204020203" pitchFamily="34" charset="0"/>
              </a:rPr>
              <a:t>focus: retain medium LTV customers ($60-$99), expand Rock promotions globally, implement loyalty program at $100 spend threshold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A75782-2C91-47F8-926E-04BBA5379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325" y="265114"/>
            <a:ext cx="1062037" cy="1062037"/>
          </a:xfrm>
          <a:prstGeom prst="rect">
            <a:avLst/>
          </a:prstGeom>
        </p:spPr>
      </p:pic>
      <p:pic>
        <p:nvPicPr>
          <p:cNvPr id="12296" name="Picture 8" descr="Business ">
            <a:extLst>
              <a:ext uri="{FF2B5EF4-FFF2-40B4-BE49-F238E27FC236}">
                <a16:creationId xmlns:a16="http://schemas.microsoft.com/office/drawing/2014/main" id="{56EE5621-2ECC-4DEF-A4D1-173883970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199" y="1871662"/>
            <a:ext cx="3114675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807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7493EA-7991-4429-9530-96CF878EA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103" y="2471290"/>
            <a:ext cx="4189111" cy="418911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1D92B7-6529-4587-B5BB-206BB20BE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487" y="197599"/>
            <a:ext cx="2486342" cy="23317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637914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1972</Words>
  <Application>Microsoft Office PowerPoint</Application>
  <PresentationFormat>Widescreen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Segoe UI</vt:lpstr>
      <vt:lpstr>Wingdings</vt:lpstr>
      <vt:lpstr>Office Theme</vt:lpstr>
      <vt:lpstr>Chinook Music Store </vt:lpstr>
      <vt:lpstr>               About Chinook Music Store</vt:lpstr>
      <vt:lpstr>           Problem Statement </vt:lpstr>
      <vt:lpstr>Data Dictionary </vt:lpstr>
      <vt:lpstr>Data Dictionary </vt:lpstr>
      <vt:lpstr>Data Dictionary </vt:lpstr>
      <vt:lpstr>     Database Schema</vt:lpstr>
      <vt:lpstr>Description of analytical methods and tools used</vt:lpstr>
      <vt:lpstr>Top Genres by Sales </vt:lpstr>
      <vt:lpstr>    Customers by Country </vt:lpstr>
      <vt:lpstr>     Total Revenue by Country </vt:lpstr>
      <vt:lpstr> Genre Sales % in USA</vt:lpstr>
      <vt:lpstr>Total Sales by Artist</vt:lpstr>
      <vt:lpstr>     Genre Sales Performance in the USA </vt:lpstr>
      <vt:lpstr>       Top 3 Albums by Sales </vt:lpstr>
      <vt:lpstr>       Regional Market Analysis: Churn Rate by Country </vt:lpstr>
      <vt:lpstr>Recommendations</vt:lpstr>
      <vt:lpstr>Continued……</vt:lpstr>
      <vt:lpstr>                       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Chinook Music Store </dc:title>
  <dc:creator>Saima Nasreen</dc:creator>
  <cp:lastModifiedBy>Saima Nasreen</cp:lastModifiedBy>
  <cp:revision>34</cp:revision>
  <dcterms:created xsi:type="dcterms:W3CDTF">2026-04-26T09:38:55Z</dcterms:created>
  <dcterms:modified xsi:type="dcterms:W3CDTF">2026-04-28T07:00:48Z</dcterms:modified>
</cp:coreProperties>
</file>